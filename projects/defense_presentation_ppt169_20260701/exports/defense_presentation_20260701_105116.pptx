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565C0">
              <a:alpha val="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1565C0">
              <a:alpha val="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9048750" y="-285750"/>
            <a:ext cx="2857500" cy="2857500"/>
          </a:xfrm>
          <a:prstGeom prst="ellipse">
            <a:avLst/>
          </a:prstGeom>
          <a:solidFill>
            <a:srgbClr val="1565C0">
              <a:alpha val="5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71500" y="4572000"/>
            <a:ext cx="2286000" cy="2286000"/>
          </a:xfrm>
          <a:prstGeom prst="ellipse">
            <a:avLst/>
          </a:prstGeom>
          <a:solidFill>
            <a:srgbClr val="1976D2">
              <a:alpha val="5000"/>
            </a:srgbClr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5810250" y="1428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285750" y="0"/>
                </a:moveTo>
                <a:lnTo>
                  <a:pt x="5715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5810250" y="495300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285750" y="285750"/>
                </a:moveTo>
                <a:lnTo>
                  <a:pt x="571500" y="0"/>
                </a:lnTo>
                <a:lnTo>
                  <a:pt x="0" y="0"/>
                </a:lnTo>
                <a:close/>
              </a:path>
            </a:pathLst>
          </a:custGeom>
          <a:solidFill>
            <a:srgbClr val="1565C0">
              <a:alpha val="5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905000" y="2381250"/>
            <a:ext cx="8382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88314" y="1889760"/>
            <a:ext cx="10215372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200" b="1" dirty="0">
                <a:gradFill>
                  <a:gsLst>
                    <a:gs pos="0">
                      <a:srgbClr val="1565C0"/>
                    </a:gs>
                    <a:gs pos="100000">
                      <a:srgbClr val="1976D2"/>
                    </a:gs>
                  </a:gsLst>
                  <a:lin ang="0" scaled="1"/>
                </a:gradFill>
                <a:latin typeface="Arial"/>
                <a:ea typeface="Microsoft YaHei"/>
                <a:cs typeface="Arial"/>
              </a:rPr>
              <a:t>校园二手物品共享平台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67847" y="2851785"/>
            <a:ext cx="48563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SecondHand-Shared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91862" y="3042285"/>
            <a:ext cx="22082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的设计与实现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191000" y="4000500"/>
            <a:ext cx="3810000" cy="28575"/>
          </a:xfrm>
          <a:prstGeom prst="rect">
            <a:avLst/>
          </a:prstGeom>
          <a:solidFill>
            <a:srgbClr val="1565C0">
              <a:alpha val="3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9421" y="4217670"/>
            <a:ext cx="195315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答辩人：XXX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48733" y="4598670"/>
            <a:ext cx="229453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指导老师：XXX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8754" y="4979670"/>
            <a:ext cx="317449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答辩时间：2026年7月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295927" y="70485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论文汇报目录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0" y="1905000"/>
            <a:ext cx="8763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847850" y="2038350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366010" y="194310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74058" y="2007870"/>
            <a:ext cx="390144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选题背景及国内外研究现状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714500" y="2857500"/>
            <a:ext cx="8763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847850" y="2990850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366010" y="289560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项目技术路线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9808" y="2960370"/>
            <a:ext cx="29321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开发环境与系统架构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714500" y="3810000"/>
            <a:ext cx="8763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1847850" y="3943350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366010" y="384810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项目功能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97808" y="3912870"/>
            <a:ext cx="390144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系统功能模块与数据库设计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714500" y="4762500"/>
            <a:ext cx="8763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1847850" y="4895850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366010" y="480060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核心流程与总结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9808" y="4865370"/>
            <a:ext cx="29321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业务流程与未来展望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2/10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889602" y="70485"/>
            <a:ext cx="241279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53340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114300" cy="533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2010" y="13906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选题背景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058" y="1836420"/>
            <a:ext cx="643768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高校招生规模扩大，闲置物品交易需求增长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058" y="2217420"/>
            <a:ext cx="514532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毕业季大量物品被低价处理或丢弃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5058" y="2598420"/>
            <a:ext cx="643768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在校学生对高性价比二手商品存在刚性需求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5058" y="2979420"/>
            <a:ext cx="417606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传统交易方式存在诸多问题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0" y="1333500"/>
            <a:ext cx="55245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096000" y="1333500"/>
            <a:ext cx="114300" cy="5334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366510" y="13906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传统交易问题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1082" y="1868805"/>
            <a:ext cx="143484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信息碎片化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18832" y="1868805"/>
            <a:ext cx="375513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分散在QQ群、微信群、贴吧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1082" y="2202180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信任机制缺失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18832" y="2202180"/>
            <a:ext cx="34137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身份不透明，交易纠纷频发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71082" y="2535555"/>
            <a:ext cx="2000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交易流程不规范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18832" y="2535555"/>
            <a:ext cx="369646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缺乏统一订单管理和状态追踪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71082" y="2868930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缺乏评价体系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18832" y="2868930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无法判断卖家信誉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619500"/>
            <a:ext cx="11049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3619500"/>
            <a:ext cx="1143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2010" y="36766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研究意义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57250" y="4286250"/>
            <a:ext cx="33337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833448" y="436054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经济价值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3401" y="46634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促进闲置物品循环利用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381500" y="4286250"/>
            <a:ext cx="33337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357698" y="436054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社会价值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69967" y="466344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践行绿色校园理念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905750" y="4286250"/>
            <a:ext cx="33337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881948" y="436054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技术价值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51901" y="46634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实践现代软件工程方法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3/10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999090" y="70485"/>
            <a:ext cx="419381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国内外研究现状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1104900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114300" cy="533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2010" y="13906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现状分析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058" y="1836420"/>
            <a:ext cx="44991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国内外二手交易平台发展迅速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7582" y="2202180"/>
            <a:ext cx="514029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闲鱼、转转、Facebook Marketplace 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5058" y="2503170"/>
            <a:ext cx="708385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专门针对校园场景的二手交易系统研究相对较少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5058" y="2836545"/>
            <a:ext cx="837620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主流平台面向全年龄段用户，校园场景特殊性未得到关注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238500"/>
            <a:ext cx="1104900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3238500"/>
            <a:ext cx="114300" cy="5334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42010" y="32956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校园二手交易特点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90525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94321" y="401193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用户群体封闭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0749" y="4346258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仅限校内师生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524250" y="390525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861321" y="401193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商品刚需为主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21380" y="4346258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教材、电子产品、生活用品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191250" y="390525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76739" y="40119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交易金额低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76872" y="434625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普遍较低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858250" y="390525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343739" y="40119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信任易建立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66442" y="4346258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用户间信任关系相对容易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143500"/>
            <a:ext cx="11049000" cy="95250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45058" y="5265420"/>
            <a:ext cx="273832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本课题研究目标：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21558" y="5265420"/>
            <a:ext cx="87477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针对现有痛点，设计与实现一套专门的校园二手物品共享平台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4/10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295927" y="70485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系统技术架构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110490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232654" y="148590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三层架构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2095500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306326" y="2202180"/>
            <a:ext cx="9118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4399" y="2441258"/>
            <a:ext cx="28957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Vue 3 + Element Plus + Vite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0" y="2095500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1976D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735326" y="2202180"/>
            <a:ext cx="9118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2356" y="2441258"/>
            <a:ext cx="363778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Spring Boot + MyBatis-Plus + JWT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01000" y="2095500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164326" y="2202180"/>
            <a:ext cx="9118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19805" y="2441258"/>
            <a:ext cx="12008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MySQL 8.0</a:t>
            </a:r>
          </a:p>
        </p:txBody>
      </p:sp>
      <p:sp>
        <p:nvSpPr>
          <p:cNvPr id="17" name="Line 17"/>
          <p:cNvSpPr/>
          <p:nvPr/>
        </p:nvSpPr>
        <p:spPr>
          <a:xfrm>
            <a:off x="2762250" y="2667000"/>
            <a:ext cx="3429000" cy="190500"/>
          </a:xfrm>
          <a:custGeom>
            <a:avLst/>
            <a:gdLst/>
            <a:ahLst/>
            <a:cxnLst/>
            <a:rect l="l" t="t" r="r" b="b"/>
            <a:pathLst>
              <a:path w="3429000" h="190500">
                <a:moveTo>
                  <a:pt x="0" y="0"/>
                </a:moveTo>
                <a:lnTo>
                  <a:pt x="3429000" y="190500"/>
                </a:lnTo>
              </a:path>
            </a:pathLst>
          </a:custGeom>
          <a:noFill/>
          <a:ln w="19050">
            <a:solidFill>
              <a:srgbClr val="1565C0"/>
            </a:solidFill>
            <a:custDash>
              <a:ds d="250000" sp="250000"/>
            </a:custDash>
          </a:ln>
        </p:spPr>
      </p:sp>
      <p:sp>
        <p:nvSpPr>
          <p:cNvPr id="18" name="Line 18"/>
          <p:cNvSpPr/>
          <p:nvPr/>
        </p:nvSpPr>
        <p:spPr>
          <a:xfrm>
            <a:off x="6191250" y="2667000"/>
            <a:ext cx="3429000" cy="190500"/>
          </a:xfrm>
          <a:custGeom>
            <a:avLst/>
            <a:gdLst/>
            <a:ahLst/>
            <a:cxnLst/>
            <a:rect l="l" t="t" r="r" b="b"/>
            <a:pathLst>
              <a:path w="3429000" h="190500">
                <a:moveTo>
                  <a:pt x="0" y="0"/>
                </a:moveTo>
                <a:lnTo>
                  <a:pt x="3429000" y="190500"/>
                </a:lnTo>
              </a:path>
            </a:pathLst>
          </a:custGeom>
          <a:noFill/>
          <a:ln w="19050">
            <a:solidFill>
              <a:srgbClr val="1565C0"/>
            </a:solidFill>
            <a:custDash>
              <a:ds d="250000" sp="250000"/>
            </a:custDash>
          </a:ln>
        </p:spPr>
      </p:sp>
      <p:sp>
        <p:nvSpPr>
          <p:cNvPr id="19" name="Rectangle 19"/>
          <p:cNvSpPr/>
          <p:nvPr/>
        </p:nvSpPr>
        <p:spPr>
          <a:xfrm>
            <a:off x="571500" y="2857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2857500"/>
            <a:ext cx="114300" cy="533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42010" y="29146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后端分层架构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57250" y="3524250"/>
            <a:ext cx="4572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639995" y="3564255"/>
            <a:ext cx="300650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Controller（控制层）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3618" y="3612832"/>
            <a:ext cx="40722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接收HTTP请求，参数校验，调用Service</a:t>
            </a:r>
          </a:p>
        </p:txBody>
      </p:sp>
      <p:sp>
        <p:nvSpPr>
          <p:cNvPr id="25" name="Polygon 25"/>
          <p:cNvSpPr/>
          <p:nvPr/>
        </p:nvSpPr>
        <p:spPr>
          <a:xfrm>
            <a:off x="3048000" y="39052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190500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57250" y="4000500"/>
            <a:ext cx="4572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546624" y="4040505"/>
            <a:ext cx="31932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Service（业务逻辑层）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63618" y="4089082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业务规则、权限校验、数据转换</a:t>
            </a:r>
          </a:p>
        </p:txBody>
      </p:sp>
      <p:sp>
        <p:nvSpPr>
          <p:cNvPr id="29" name="Polygon 29"/>
          <p:cNvSpPr/>
          <p:nvPr/>
        </p:nvSpPr>
        <p:spPr>
          <a:xfrm>
            <a:off x="3048000" y="438150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190500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857250" y="4476750"/>
            <a:ext cx="4572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559485" y="4516755"/>
            <a:ext cx="316752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Mapper（数据访问层）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63618" y="4565332"/>
            <a:ext cx="399178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MyBatis-Plus内置CRUD，复杂查询XML</a:t>
            </a:r>
          </a:p>
        </p:txBody>
      </p:sp>
      <p:sp>
        <p:nvSpPr>
          <p:cNvPr id="33" name="Polygon 33"/>
          <p:cNvSpPr/>
          <p:nvPr/>
        </p:nvSpPr>
        <p:spPr>
          <a:xfrm>
            <a:off x="3048000" y="48577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190500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57250" y="4953000"/>
            <a:ext cx="4572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926541" y="4993005"/>
            <a:ext cx="24334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Entity（实体层）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63618" y="5041582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数据库表映射，软删除支持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96000" y="2857500"/>
            <a:ext cx="55245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096000" y="2857500"/>
            <a:ext cx="114300" cy="5334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366510" y="29146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前端分层架构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381750" y="3524250"/>
            <a:ext cx="4857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7588135" y="3551872"/>
            <a:ext cx="244497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976D2"/>
                </a:solidFill>
                <a:latin typeface="Arial"/>
                <a:ea typeface="Microsoft YaHei"/>
                <a:cs typeface="Arial"/>
              </a:rPr>
              <a:t>Views（页面组件）</a:t>
            </a:r>
          </a:p>
        </p:txBody>
      </p:sp>
      <p:sp>
        <p:nvSpPr>
          <p:cNvPr id="42" name="Polygon 42"/>
          <p:cNvSpPr/>
          <p:nvPr/>
        </p:nvSpPr>
        <p:spPr>
          <a:xfrm>
            <a:off x="8715375" y="38671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190500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381750" y="3962400"/>
            <a:ext cx="4857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179130" y="3990022"/>
            <a:ext cx="326298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976D2"/>
                </a:solidFill>
                <a:latin typeface="Arial"/>
                <a:ea typeface="Microsoft YaHei"/>
                <a:cs typeface="Arial"/>
              </a:rPr>
              <a:t>Components（通用组件）</a:t>
            </a:r>
          </a:p>
        </p:txBody>
      </p:sp>
      <p:sp>
        <p:nvSpPr>
          <p:cNvPr id="45" name="Polygon 45"/>
          <p:cNvSpPr/>
          <p:nvPr/>
        </p:nvSpPr>
        <p:spPr>
          <a:xfrm>
            <a:off x="8715375" y="430530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190500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6381750" y="4400550"/>
            <a:ext cx="4857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79936" y="4428172"/>
            <a:ext cx="326137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976D2"/>
                </a:solidFill>
                <a:latin typeface="Arial"/>
                <a:ea typeface="Microsoft YaHei"/>
                <a:cs typeface="Arial"/>
              </a:rPr>
              <a:t>API Modules（接口模块）</a:t>
            </a:r>
          </a:p>
        </p:txBody>
      </p:sp>
      <p:sp>
        <p:nvSpPr>
          <p:cNvPr id="48" name="Polygon 48"/>
          <p:cNvSpPr/>
          <p:nvPr/>
        </p:nvSpPr>
        <p:spPr>
          <a:xfrm>
            <a:off x="8715375" y="47434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190500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381750" y="4838700"/>
            <a:ext cx="4857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893191" y="4866322"/>
            <a:ext cx="383486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976D2"/>
                </a:solidFill>
                <a:latin typeface="Arial"/>
                <a:ea typeface="Microsoft YaHei"/>
                <a:cs typeface="Arial"/>
              </a:rPr>
              <a:t>Utils + Stores（工具与状态）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5/10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02253" y="70485"/>
            <a:ext cx="478749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开发环境与技术栈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3619500" cy="457200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9050">
            <a:solidFill>
              <a:srgbClr val="1565C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619500" cy="5715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413415" y="1423035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后端技术栈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058" y="2026920"/>
            <a:ext cx="326651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Spring Boot 3.3.5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9106" y="2377440"/>
            <a:ext cx="287293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应用框架，IoC容器，MVC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5058" y="2646045"/>
            <a:ext cx="353807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MyBatis-Plus 3.5.9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9106" y="2996565"/>
            <a:ext cx="31034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ORM框架，分页与逻辑删除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5058" y="3265170"/>
            <a:ext cx="213428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MySQL 8.0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9106" y="3615690"/>
            <a:ext cx="302083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关系型数据库，InnoDB引擎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5058" y="3884295"/>
            <a:ext cx="247973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JJWT 0.12.6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9106" y="4234815"/>
            <a:ext cx="22841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JWT令牌生成与验证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058" y="4503420"/>
            <a:ext cx="259270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Hutool 5.8.25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9106" y="4853940"/>
            <a:ext cx="29285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Java工具类库，JSON处理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5058" y="5122545"/>
            <a:ext cx="151401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Lombok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9106" y="547306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简化实体类代码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381500" y="1333500"/>
            <a:ext cx="3619500" cy="457200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9050">
            <a:solidFill>
              <a:srgbClr val="1976D2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381500" y="1333500"/>
            <a:ext cx="3619500" cy="571500"/>
          </a:xfrm>
          <a:prstGeom prst="roundRect">
            <a:avLst>
              <a:gd name="adj" fmla="val 20000"/>
            </a:avLst>
          </a:prstGeom>
          <a:solidFill>
            <a:srgbClr val="1976D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23415" y="1423035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前端技术栈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5058" y="2026920"/>
            <a:ext cx="11822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Vue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39106" y="2377440"/>
            <a:ext cx="30839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前端框架，Composition API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55058" y="2646045"/>
            <a:ext cx="165402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Vite 5.x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39106" y="2996565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构建工具，快速热更新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55058" y="3265170"/>
            <a:ext cx="305500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Element Plus 2.x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39106" y="3615690"/>
            <a:ext cx="10040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UI组件库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55058" y="3884295"/>
            <a:ext cx="17537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Pinia 2.x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39106" y="4234815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状态管理库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55058" y="4503420"/>
            <a:ext cx="278620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Vue Router 4.x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039106" y="485394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前端路由，导航守卫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55058" y="5122545"/>
            <a:ext cx="28971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• Axios / ECharts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39106" y="5473065"/>
            <a:ext cx="29242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HTTP客户端 / 数据可视化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91500" y="1333500"/>
            <a:ext cx="3619500" cy="457200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9050">
            <a:solidFill>
              <a:srgbClr val="0D47A1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191500" y="1333500"/>
            <a:ext cx="3619500" cy="571500"/>
          </a:xfrm>
          <a:prstGeom prst="roundRect">
            <a:avLst>
              <a:gd name="adj" fmla="val 2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224239" y="14230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开发工具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477250" y="2190750"/>
            <a:ext cx="3048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03575" y="2265045"/>
            <a:ext cx="199535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IntelliJ IDEA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94543" y="2584132"/>
            <a:ext cx="141341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Java后端开发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477250" y="3048000"/>
            <a:ext cx="3048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361140" y="3122295"/>
            <a:ext cx="128022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VS Code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48622" y="34413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477250" y="3905250"/>
            <a:ext cx="3048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373484" y="3979545"/>
            <a:ext cx="125553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Navicat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37560" y="42986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数据库管理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477250" y="4762500"/>
            <a:ext cx="3048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9747108" y="4836795"/>
            <a:ext cx="50828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548622" y="51558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版本控制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6/10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295927" y="70485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系统功能模块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3429000" cy="26670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114300" cy="533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2010" y="13906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用户模块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6582" y="1868805"/>
            <a:ext cx="42477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用户注册（用户名+密码+昵称）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6582" y="2202180"/>
            <a:ext cx="381487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用户登录（JWT令牌认证）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6582" y="2535555"/>
            <a:ext cx="195784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个人资料管理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6582" y="2868930"/>
            <a:ext cx="13924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修改密码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190500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096000" y="1333500"/>
            <a:ext cx="3429000" cy="26670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096000" y="1333500"/>
            <a:ext cx="114300" cy="5334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66510" y="13906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商品模块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1082" y="1868805"/>
            <a:ext cx="59156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发布商品（标题、描述、价格、分类、图片）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1082" y="2202180"/>
            <a:ext cx="283422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编辑/删除/下架商品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71082" y="2535555"/>
            <a:ext cx="45304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商品列表（分页+搜索+分类筛选）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71082" y="2868930"/>
            <a:ext cx="337135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商品详情（浏览量统计）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715500" y="1333500"/>
            <a:ext cx="3429000" cy="26670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715500" y="1333500"/>
            <a:ext cx="114300" cy="53340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986010" y="13906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订单模块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90582" y="1868805"/>
            <a:ext cx="308865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创建订单（买家下单）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90582" y="2202180"/>
            <a:ext cx="195784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订单状态流转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73106" y="2520315"/>
            <a:ext cx="33259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待付款→已付款→已发货→已完成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90582" y="2773680"/>
            <a:ext cx="421946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取消订单（商品自动恢复上架）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90582" y="3107055"/>
            <a:ext cx="39367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订单列表（按状态分类展示）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191000"/>
            <a:ext cx="266700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127989" y="428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收藏模块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6582" y="4726305"/>
            <a:ext cx="26787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收藏/取消收藏商品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6582" y="5059680"/>
            <a:ext cx="195784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收藏列表查看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429000" y="4191000"/>
            <a:ext cx="266700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985489" y="428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评论模块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18332" y="4726305"/>
            <a:ext cx="327240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发表评论（1-5星评分）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18332" y="5059680"/>
            <a:ext cx="195784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商品评论列表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286500" y="4191000"/>
            <a:ext cx="533400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286500" y="4191000"/>
            <a:ext cx="1143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558534" y="428053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后台管理模块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61582" y="4726305"/>
            <a:ext cx="59156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数据概览（总用户数、总商品数、总订单数）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61582" y="5059680"/>
            <a:ext cx="563297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用户管理、商品管理、订单管理、分类管理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92764" y="70485"/>
            <a:ext cx="300647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110490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45058" y="1455420"/>
            <a:ext cx="205983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数据库信息：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69058" y="1455420"/>
            <a:ext cx="394990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数据库名：secondhand_db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26558" y="1455420"/>
            <a:ext cx="269885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存储引擎：InnoDB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07808" y="1455420"/>
            <a:ext cx="262524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字符集：utf8mb4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28600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71500" y="2286000"/>
            <a:ext cx="114300" cy="533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43534" y="2375535"/>
            <a:ext cx="128686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t_user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7344" y="2837498"/>
            <a:ext cx="332742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id, username, password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7344" y="3123248"/>
            <a:ext cx="341930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nickname, avatar, phone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7344" y="3408998"/>
            <a:ext cx="27105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email, role, status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7344" y="3694748"/>
            <a:ext cx="361618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create_time, update_time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191000" y="228600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191000" y="2286000"/>
            <a:ext cx="114300" cy="5334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463034" y="2375535"/>
            <a:ext cx="191658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t_product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66844" y="2837498"/>
            <a:ext cx="295991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id, title, description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66844" y="3123248"/>
            <a:ext cx="288116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price, original_price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66844" y="3408998"/>
            <a:ext cx="400994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images, category_id, user_id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66844" y="3694748"/>
            <a:ext cx="276303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status, view_count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810500" y="228600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10500" y="2286000"/>
            <a:ext cx="114300" cy="53340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082534" y="2375535"/>
            <a:ext cx="14967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t_order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86344" y="2837498"/>
            <a:ext cx="344555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id, order_no, product_id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86344" y="3123248"/>
            <a:ext cx="265802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buyer_id, seller_id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86344" y="3408998"/>
            <a:ext cx="19886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price, status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86344" y="3694748"/>
            <a:ext cx="295991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• remark, create_time</a:t>
            </a:r>
          </a:p>
        </p:txBody>
      </p:sp>
      <p:sp>
        <p:nvSpPr>
          <p:cNvPr id="32" name="Line 32"/>
          <p:cNvSpPr/>
          <p:nvPr/>
        </p:nvSpPr>
        <p:spPr>
          <a:xfrm>
            <a:off x="2286000" y="43815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19050">
            <a:solidFill>
              <a:srgbClr val="1565C0"/>
            </a:solidFill>
            <a:custDash>
              <a:ds d="250000" sp="250000"/>
            </a:custDash>
          </a:ln>
        </p:spPr>
      </p:sp>
      <p:sp>
        <p:nvSpPr>
          <p:cNvPr id="33" name="Line 33"/>
          <p:cNvSpPr/>
          <p:nvPr/>
        </p:nvSpPr>
        <p:spPr>
          <a:xfrm>
            <a:off x="5905500" y="43815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19050">
            <a:solidFill>
              <a:srgbClr val="1565C0"/>
            </a:solidFill>
            <a:custDash>
              <a:ds d="250000" sp="250000"/>
            </a:custDash>
          </a:ln>
        </p:spPr>
      </p:sp>
      <p:sp>
        <p:nvSpPr>
          <p:cNvPr id="34" name="TextBox 34"/>
          <p:cNvSpPr txBox="1"/>
          <p:nvPr/>
        </p:nvSpPr>
        <p:spPr>
          <a:xfrm>
            <a:off x="4087368" y="4346258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一对多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06868" y="4346258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一对多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57200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2780" y="4678680"/>
            <a:ext cx="16539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t_category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-25594" y="5013008"/>
            <a:ext cx="367068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分类表：id, name, parent_id, icon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238500" y="457200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86885" y="4678680"/>
            <a:ext cx="15797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t_favorite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58021" y="5013008"/>
            <a:ext cx="343745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收藏表：id, user_id, product_id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905500" y="457200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39043" y="4678680"/>
            <a:ext cx="160941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t_comment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469892" y="5013008"/>
            <a:ext cx="53477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评论表：id, product_id, user_id, content, rating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572500" y="4572000"/>
            <a:ext cx="3238500" cy="952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9525">
            <a:solidFill>
              <a:srgbClr val="1565C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587408" y="4678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逻辑删除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73289" y="5013008"/>
            <a:ext cx="46369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所有表包含deleted字段（0=正常，1=已删除）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295927" y="70485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核心业务流程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11049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114300" cy="533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2010" y="13906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用户认证流程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000250"/>
            <a:ext cx="1714500" cy="381000"/>
          </a:xfrm>
          <a:prstGeom prst="roundRect">
            <a:avLst>
              <a:gd name="adj" fmla="val 1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90444" y="2072640"/>
            <a:ext cx="24481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用户提交用户名+密码</a:t>
            </a:r>
          </a:p>
        </p:txBody>
      </p:sp>
      <p:sp>
        <p:nvSpPr>
          <p:cNvPr id="11" name="Polygon 11"/>
          <p:cNvSpPr/>
          <p:nvPr/>
        </p:nvSpPr>
        <p:spPr>
          <a:xfrm>
            <a:off x="2571750" y="209550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2952750" y="2000250"/>
            <a:ext cx="1714500" cy="381000"/>
          </a:xfrm>
          <a:prstGeom prst="roundRect">
            <a:avLst>
              <a:gd name="adj" fmla="val 15000"/>
            </a:avLst>
          </a:prstGeom>
          <a:solidFill>
            <a:srgbClr val="1976D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910345" y="207264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服务端验证密码</a:t>
            </a:r>
          </a:p>
        </p:txBody>
      </p:sp>
      <p:sp>
        <p:nvSpPr>
          <p:cNvPr id="14" name="Polygon 14"/>
          <p:cNvSpPr/>
          <p:nvPr/>
        </p:nvSpPr>
        <p:spPr>
          <a:xfrm>
            <a:off x="4667250" y="209550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048250" y="2000250"/>
            <a:ext cx="1714500" cy="381000"/>
          </a:xfrm>
          <a:prstGeom prst="roundRect">
            <a:avLst>
              <a:gd name="adj" fmla="val 15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993723" y="2072640"/>
            <a:ext cx="182355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生成JWT Token</a:t>
            </a:r>
          </a:p>
        </p:txBody>
      </p:sp>
      <p:sp>
        <p:nvSpPr>
          <p:cNvPr id="17" name="Polygon 17"/>
          <p:cNvSpPr/>
          <p:nvPr/>
        </p:nvSpPr>
        <p:spPr>
          <a:xfrm>
            <a:off x="6762750" y="209550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143750" y="2000250"/>
            <a:ext cx="1714500" cy="381000"/>
          </a:xfrm>
          <a:prstGeom prst="roundRect">
            <a:avLst>
              <a:gd name="adj" fmla="val 1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123427" y="2072640"/>
            <a:ext cx="17551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前端存储Token</a:t>
            </a:r>
          </a:p>
        </p:txBody>
      </p:sp>
      <p:sp>
        <p:nvSpPr>
          <p:cNvPr id="20" name="Polygon 20"/>
          <p:cNvSpPr/>
          <p:nvPr/>
        </p:nvSpPr>
        <p:spPr>
          <a:xfrm>
            <a:off x="8858250" y="209550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9239250" y="2000250"/>
            <a:ext cx="1619250" cy="3810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656678" y="2072640"/>
            <a:ext cx="278439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后续请求自动附加Token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3048000"/>
            <a:ext cx="11049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3048000"/>
            <a:ext cx="114300" cy="5334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2010" y="31051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订单状态流转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143000" y="381000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65597" y="3882390"/>
            <a:ext cx="20883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待付款(PENDING)</a:t>
            </a:r>
          </a:p>
        </p:txBody>
      </p:sp>
      <p:sp>
        <p:nvSpPr>
          <p:cNvPr id="28" name="Polygon 28"/>
          <p:cNvSpPr/>
          <p:nvPr/>
        </p:nvSpPr>
        <p:spPr>
          <a:xfrm>
            <a:off x="2476500" y="39052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2857500" y="381000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701884" y="3882390"/>
            <a:ext cx="164473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已付款(PAID)</a:t>
            </a:r>
          </a:p>
        </p:txBody>
      </p:sp>
      <p:sp>
        <p:nvSpPr>
          <p:cNvPr id="31" name="Polygon 31"/>
          <p:cNvSpPr/>
          <p:nvPr/>
        </p:nvSpPr>
        <p:spPr>
          <a:xfrm>
            <a:off x="4191000" y="39052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4572000" y="381000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194597" y="3882390"/>
            <a:ext cx="20883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已发货(SHIPPED)</a:t>
            </a:r>
          </a:p>
        </p:txBody>
      </p:sp>
      <p:sp>
        <p:nvSpPr>
          <p:cNvPr id="34" name="Polygon 34"/>
          <p:cNvSpPr/>
          <p:nvPr/>
        </p:nvSpPr>
        <p:spPr>
          <a:xfrm>
            <a:off x="5905500" y="39052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286500" y="381000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673867" y="3882390"/>
            <a:ext cx="255876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已完成(COMPLETED)</a:t>
            </a:r>
          </a:p>
        </p:txBody>
      </p:sp>
      <p:sp>
        <p:nvSpPr>
          <p:cNvPr id="37" name="Polygon 37"/>
          <p:cNvSpPr/>
          <p:nvPr/>
        </p:nvSpPr>
        <p:spPr>
          <a:xfrm>
            <a:off x="1714500" y="4191000"/>
            <a:ext cx="95250" cy="285750"/>
          </a:xfrm>
          <a:custGeom>
            <a:avLst/>
            <a:gdLst/>
            <a:ahLst/>
            <a:cxnLst/>
            <a:rect l="l" t="t" r="r" b="b"/>
            <a:pathLst>
              <a:path w="95250" h="285750">
                <a:moveTo>
                  <a:pt x="95250" y="0"/>
                </a:moveTo>
                <a:lnTo>
                  <a:pt x="95250" y="285750"/>
                </a:lnTo>
                <a:lnTo>
                  <a:pt x="0" y="19050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1143000" y="466725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84134" y="4739640"/>
            <a:ext cx="24512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已取消(CANCELLED)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659380" y="46005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买家取消或超时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143500"/>
            <a:ext cx="1104900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71500" y="5143500"/>
            <a:ext cx="114300" cy="53340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2010" y="52006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商品发布流程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57250" y="5810250"/>
            <a:ext cx="1714500" cy="28575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06431" y="58416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用户上传图片</a:t>
            </a:r>
          </a:p>
        </p:txBody>
      </p:sp>
      <p:sp>
        <p:nvSpPr>
          <p:cNvPr id="46" name="Polygon 46"/>
          <p:cNvSpPr/>
          <p:nvPr/>
        </p:nvSpPr>
        <p:spPr>
          <a:xfrm>
            <a:off x="2571750" y="5886450"/>
            <a:ext cx="142875" cy="66675"/>
          </a:xfrm>
          <a:custGeom>
            <a:avLst/>
            <a:gdLst/>
            <a:ahLst/>
            <a:cxnLst/>
            <a:rect l="l" t="t" r="r" b="b"/>
            <a:pathLst>
              <a:path w="142875" h="66675">
                <a:moveTo>
                  <a:pt x="0" y="66675"/>
                </a:moveTo>
                <a:lnTo>
                  <a:pt x="1428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2809875" y="5810250"/>
            <a:ext cx="1714500" cy="285750"/>
          </a:xfrm>
          <a:prstGeom prst="roundRect">
            <a:avLst>
              <a:gd name="adj" fmla="val 13333"/>
            </a:avLst>
          </a:prstGeom>
          <a:solidFill>
            <a:srgbClr val="1976D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959056" y="58416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填写商品信息</a:t>
            </a:r>
          </a:p>
        </p:txBody>
      </p:sp>
      <p:sp>
        <p:nvSpPr>
          <p:cNvPr id="49" name="Polygon 49"/>
          <p:cNvSpPr/>
          <p:nvPr/>
        </p:nvSpPr>
        <p:spPr>
          <a:xfrm>
            <a:off x="4524375" y="5886450"/>
            <a:ext cx="142875" cy="66675"/>
          </a:xfrm>
          <a:custGeom>
            <a:avLst/>
            <a:gdLst/>
            <a:ahLst/>
            <a:cxnLst/>
            <a:rect l="l" t="t" r="r" b="b"/>
            <a:pathLst>
              <a:path w="142875" h="66675">
                <a:moveTo>
                  <a:pt x="0" y="66675"/>
                </a:moveTo>
                <a:lnTo>
                  <a:pt x="1428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4762500" y="5810250"/>
            <a:ext cx="1714500" cy="28575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795066" y="5841682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设置分类和价格</a:t>
            </a:r>
          </a:p>
        </p:txBody>
      </p:sp>
      <p:sp>
        <p:nvSpPr>
          <p:cNvPr id="52" name="Polygon 52"/>
          <p:cNvSpPr/>
          <p:nvPr/>
        </p:nvSpPr>
        <p:spPr>
          <a:xfrm>
            <a:off x="6477000" y="5886450"/>
            <a:ext cx="142875" cy="66675"/>
          </a:xfrm>
          <a:custGeom>
            <a:avLst/>
            <a:gdLst/>
            <a:ahLst/>
            <a:cxnLst/>
            <a:rect l="l" t="t" r="r" b="b"/>
            <a:pathLst>
              <a:path w="142875" h="66675">
                <a:moveTo>
                  <a:pt x="0" y="66675"/>
                </a:moveTo>
                <a:lnTo>
                  <a:pt x="1428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6715125" y="5810250"/>
            <a:ext cx="1714500" cy="28575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436572" y="5841682"/>
            <a:ext cx="22716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保存发布(ON_SALE)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000727" y="6513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92764" y="70485"/>
            <a:ext cx="300647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gradFill>
                  <a:gsLst>
                    <a:gs pos="0">
                      <a:srgbClr val="1565C0"/>
                    </a:gs>
                    <a:gs pos="100000">
                      <a:srgbClr val="1976D2"/>
                    </a:gs>
                  </a:gsLst>
                  <a:lin ang="0" scaled="1"/>
                </a:gra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11049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11049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1143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2010" y="13906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058" y="1836420"/>
            <a:ext cx="611459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完成了校园二手物品共享平台的需求分析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5058" y="2169795"/>
            <a:ext cx="44991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设计了前后端分离的系统架构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5058" y="2503170"/>
            <a:ext cx="902238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实现了用户认证、商品管理、订单流转、收藏评论等核心功能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5058" y="2836545"/>
            <a:ext cx="708385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建立了统一的数据返回格式与全局异常处理机制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5058" y="3169920"/>
            <a:ext cx="67607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• 设计了品牌化的视觉规范，实现了响应式布局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429000"/>
            <a:ext cx="110490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571500" y="3429000"/>
            <a:ext cx="114300" cy="533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2010" y="34861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后续改进方向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57250" y="4095750"/>
            <a:ext cx="24765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323061" y="423481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实时消息推送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6900" y="4457700"/>
            <a:ext cx="14772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WebSocket实现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524250" y="4095750"/>
            <a:ext cx="24765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244492" y="42348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全文检索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80539" y="4457700"/>
            <a:ext cx="13639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191250" y="4095750"/>
            <a:ext cx="24765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784276" y="4234815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第三方支付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61524" y="4457700"/>
            <a:ext cx="11359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微信/支付宝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858250" y="4095750"/>
            <a:ext cx="24765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578492" y="42348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智能推荐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83090" y="445770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协同过滤算法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57250" y="4857750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688527" y="4996815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容器化部署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75498" y="5219700"/>
            <a:ext cx="25165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Docker + docker-compose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00750" y="4857750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959242" y="49968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在线聊天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61910" y="5219700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买卖双方即时沟通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619750"/>
            <a:ext cx="11049000" cy="95250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656707" y="567690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29912" y="6075045"/>
            <a:ext cx="29321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感谢导师的悉心指导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68368" y="6313170"/>
            <a:ext cx="32552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感谢答辩委员会的评审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95219" y="6513671"/>
            <a:ext cx="5420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2026-07-01T02:51:17Z</dcterms:created>
  <dcterms:modified xsi:type="dcterms:W3CDTF">2026-07-01T02:51:17Z</dcterms:modified>
  <cp:category/>
  <cp:contentStatus/>
</cp:coreProperties>
</file>