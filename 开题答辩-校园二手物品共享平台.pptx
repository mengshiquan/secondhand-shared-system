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6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76.xml"/><Relationship Id="rId2" Type="http://schemas.openxmlformats.org/officeDocument/2006/relationships/tags" Target="../tags/tag58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01.xml"/><Relationship Id="rId24" Type="http://schemas.openxmlformats.org/officeDocument/2006/relationships/tags" Target="../tags/tag100.xml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78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827405"/>
            <a:ext cx="2194560" cy="4114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44700" y="914273"/>
            <a:ext cx="84836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开题报告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64005"/>
            <a:ext cx="7653655" cy="1506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lang="zh-CN"/>
              <a:t>基于</a:t>
            </a:r>
            <a:r>
              <a:rPr lang="en-US" altLang="zh-CN"/>
              <a:t>spring boot+vue</a:t>
            </a:r>
            <a:r>
              <a:rPr lang="zh-CN" altLang="en-US"/>
              <a:t>的</a:t>
            </a:r>
            <a:r>
              <a:t>校园二手</a:t>
            </a:r>
          </a:p>
          <a:p>
            <a:pPr algn="ctr">
              <a:defRPr sz="38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物品共享平台的设计与实现</a:t>
            </a:r>
            <a:endParaRPr lang="zh-CN" altLang="en-US" sz="1600"/>
          </a:p>
          <a:p>
            <a:pPr algn="ctr">
              <a:defRPr sz="3800" b="1">
                <a:solidFill>
                  <a:srgbClr val="0F172A"/>
                </a:solidFill>
                <a:latin typeface="微软雅黑" panose="020B0503020204020204" charset="-122"/>
              </a:defRPr>
            </a:pPr>
            <a:endParaRPr lang="zh-CN" alt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1371600" y="2765425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 panose="020B0604020202020204"/>
              </a:defRPr>
            </a:pPr>
            <a:r>
              <a:t>Design and Implementation of Campus Second-Hand Item Sharing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25603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548640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200"/>
              </a:spcAft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答辩人：孟实全</a:t>
            </a:r>
          </a:p>
          <a:p>
            <a:pPr>
              <a:lnSpc>
                <a:spcPts val="2800"/>
              </a:lnSpc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b="1"/>
              <a:t>所在院系：数理学院  23级计算机</a:t>
            </a:r>
            <a:endParaRPr b="1"/>
          </a:p>
          <a:p>
            <a:pPr>
              <a:lnSpc>
                <a:spcPts val="2800"/>
              </a:lnSpc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b="1"/>
              <a:t>指导老师：杨正泽</a:t>
            </a:r>
            <a:r>
              <a:rPr lang="zh-CN" b="1"/>
              <a:t>老师</a:t>
            </a:r>
            <a:endParaRPr b="1"/>
          </a:p>
          <a:p>
            <a:pPr>
              <a:lnSpc>
                <a:spcPts val="2800"/>
              </a:lnSpc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b="1"/>
              <a:t>答辩时间：2026年7月4日</a:t>
            </a:r>
            <a:endParaRPr b="1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1728216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9164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选题背景与意义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6596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研究动机、现实痛点与研究价值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238658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5000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国内外研究现状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2432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现有平台分析与本课题定位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304495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008376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课题研究内容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82696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需求分析 · 架构设计 · 功能规划 · 测试方案</a:t>
            </a:r>
          </a:p>
        </p:txBody>
      </p:sp>
      <p:sp>
        <p:nvSpPr>
          <p:cNvPr id="15" name="Oval 14"/>
          <p:cNvSpPr/>
          <p:nvPr/>
        </p:nvSpPr>
        <p:spPr>
          <a:xfrm>
            <a:off x="1645920" y="37033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66744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研究方法与技术路线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94106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研究方法 · 技术选型 · 开发流程</a:t>
            </a:r>
          </a:p>
        </p:txBody>
      </p:sp>
      <p:sp>
        <p:nvSpPr>
          <p:cNvPr id="18" name="Oval 17"/>
          <p:cNvSpPr/>
          <p:nvPr/>
        </p:nvSpPr>
        <p:spPr>
          <a:xfrm>
            <a:off x="1645920" y="436168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32511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功能模块详细规划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994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六大模块功能拆解与技术实现思路</a:t>
            </a:r>
          </a:p>
        </p:txBody>
      </p:sp>
      <p:sp>
        <p:nvSpPr>
          <p:cNvPr id="21" name="Oval 20"/>
          <p:cNvSpPr/>
          <p:nvPr/>
        </p:nvSpPr>
        <p:spPr>
          <a:xfrm>
            <a:off x="1645920" y="5020056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983480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拟解决的关键问题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2578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五项核心难题与技术应对策略</a:t>
            </a:r>
          </a:p>
        </p:txBody>
      </p:sp>
      <p:sp>
        <p:nvSpPr>
          <p:cNvPr id="24" name="Oval 23"/>
          <p:cNvSpPr/>
          <p:nvPr/>
        </p:nvSpPr>
        <p:spPr>
          <a:xfrm>
            <a:off x="1645920" y="5678424"/>
            <a:ext cx="384048" cy="38404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641848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预期目标与进度安排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916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预期成果与分阶段时间计划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2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BACKGROUND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选题背景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3458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45"/>
              </a:lnSpc>
              <a:spcAft>
                <a:spcPts val="200"/>
              </a:spcAft>
              <a:defRPr sz="13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高校招生规模扩大，校园闲置物品交易需求日益增长。每年毕业季，</a:t>
            </a:r>
          </a:p>
          <a:p>
            <a:pPr>
              <a:lnSpc>
                <a:spcPts val="2145"/>
              </a:lnSpc>
              <a:spcAft>
                <a:spcPts val="200"/>
              </a:spcAft>
              <a:defRPr sz="13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大量教材、电子产品、生活用品被低价处理或丢弃，造成资源浪费。</a:t>
            </a:r>
          </a:p>
          <a:p>
            <a:pPr>
              <a:lnSpc>
                <a:spcPts val="2145"/>
              </a:lnSpc>
              <a:spcAft>
                <a:spcPts val="200"/>
              </a:spcAft>
              <a:defRPr sz="13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传统校园二手交易依托 QQ 群、微信朋友圈、贴吧等社交平台，</a:t>
            </a:r>
          </a:p>
          <a:p>
            <a:pPr>
              <a:lnSpc>
                <a:spcPts val="2145"/>
              </a:lnSpc>
              <a:spcAft>
                <a:spcPts val="200"/>
              </a:spcAft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存在以下突出问题：</a:t>
            </a:r>
          </a:p>
          <a:p>
            <a:pPr>
              <a:lnSpc>
                <a:spcPts val="660"/>
              </a:lnSpc>
              <a:spcAft>
                <a:spcPts val="200"/>
              </a:spcAft>
              <a:defRPr sz="400" b="0">
                <a:solidFill>
                  <a:srgbClr val="334155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198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en-US"/>
              <a:t>1</a:t>
            </a:r>
            <a:r>
              <a:t>· 信息碎片化 — 商品信息分散，难以检索和筛选</a:t>
            </a:r>
          </a:p>
          <a:p>
            <a:pPr>
              <a:lnSpc>
                <a:spcPts val="198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en-US"/>
              <a:t>2</a:t>
            </a:r>
            <a:r>
              <a:t>· 信任机制缺失 — 买卖双方身份不透明，交易纠纷频发</a:t>
            </a:r>
          </a:p>
          <a:p>
            <a:pPr>
              <a:lnSpc>
                <a:spcPts val="198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en-US"/>
              <a:t>3</a:t>
            </a:r>
            <a:r>
              <a:t>· 流程不规范 — 缺乏统一的订单管理和状态追踪机制</a:t>
            </a:r>
          </a:p>
          <a:p>
            <a:pPr>
              <a:lnSpc>
                <a:spcPts val="198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en-US"/>
              <a:t>4</a:t>
            </a:r>
            <a:r>
              <a:t>· 评价体系缺失 — 买方无法参考历史交易记录判断卖家信誉</a:t>
            </a:r>
          </a:p>
          <a:p>
            <a:pPr>
              <a:lnSpc>
                <a:spcPts val="660"/>
              </a:lnSpc>
              <a:spcAft>
                <a:spcPts val="200"/>
              </a:spcAft>
              <a:defRPr sz="400" b="0">
                <a:solidFill>
                  <a:srgbClr val="334155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2145"/>
              </a:lnSpc>
              <a:spcAft>
                <a:spcPts val="200"/>
              </a:spcAft>
              <a:defRPr sz="13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rPr lang="zh-CN"/>
              <a:t>急</a:t>
            </a:r>
            <a:r>
              <a:t>需构建一个面向高校校园的专属二手物品共享平台。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研究意义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0292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65960"/>
            <a:ext cx="5029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经济价值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促进闲置物品循环利用</a:t>
            </a:r>
            <a:br/>
            <a:r>
              <a:t>降低学生生活成本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0292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383280"/>
            <a:ext cx="5029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社会价值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24688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践行绿色校园理念</a:t>
            </a:r>
            <a:r>
              <a:rPr lang="zh-CN"/>
              <a:t>，</a:t>
            </a:r>
            <a:r>
              <a:rPr lang="zh-CN" altLang="en-US"/>
              <a:t>减少物品浪费</a:t>
            </a:r>
            <a:br>
              <a:rPr lang="zh-CN" altLang="en-US"/>
            </a:br>
            <a:r>
              <a:t>培养可持续消费习惯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00600"/>
            <a:ext cx="50292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800600"/>
            <a:ext cx="5029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377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技术价值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实践前后端分离架构</a:t>
            </a:r>
            <a:br/>
            <a:r>
              <a:t>JWT 认证 · RESTful API 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3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国内外研究现状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822960" y="1508760"/>
            <a:ext cx="5212080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097280" y="1645920"/>
            <a:ext cx="1791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rPr sz="1800"/>
              <a:t>现有平台与不足</a:t>
            </a:r>
            <a:endParaRPr sz="1800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097280" y="2057400"/>
            <a:ext cx="4663440" cy="244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主流平台（闲鱼、转转等）面向全年龄段用户，</a:t>
            </a: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校园场景的特殊性未得到充分关注。</a:t>
            </a: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校园二手交易的用户群体相对封闭（仅限校内师生），</a:t>
            </a: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交易商品以教材、电子产品、生活用品等学生刚需为主，</a:t>
            </a: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交易金额普遍较低，信任关系相对容易建立。</a:t>
            </a: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现有校园渠道（QQ群/微信/贴吧）存在信息分散、</a:t>
            </a:r>
            <a:endParaRPr sz="14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交易流程不规范、评价体系缺失等问题</a:t>
            </a:r>
            <a:r>
              <a:t>。</a:t>
            </a: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446520" y="1508760"/>
            <a:ext cx="5212080" cy="34747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720840" y="1645920"/>
            <a:ext cx="17919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rPr sz="1800"/>
              <a:t>本课题研究定位</a:t>
            </a:r>
            <a:endParaRPr sz="1800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6720840" y="2057400"/>
            <a:ext cx="4663440" cy="191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600"/>
              <a:t>针对校园场景，设计专属二手物品共享平台。</a:t>
            </a:r>
            <a:endParaRPr sz="16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endParaRPr sz="1600"/>
          </a:p>
          <a:p>
            <a:pPr>
              <a:lnSpc>
                <a:spcPts val="1860"/>
              </a:lnSpc>
              <a:spcAft>
                <a:spcPts val="200"/>
              </a:spcAft>
              <a:defRPr sz="12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1600"/>
              <a:t>核心思路：</a:t>
            </a:r>
            <a:endParaRPr sz="16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600"/>
              <a:t>· 统一平台解决信息碎片化</a:t>
            </a:r>
            <a:endParaRPr sz="16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600"/>
              <a:t>· 用户认证 + 评价体系构建信任机制</a:t>
            </a:r>
            <a:endParaRPr sz="16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600"/>
              <a:t>· 完整订单流转规范交易流程</a:t>
            </a:r>
            <a:endParaRPr sz="1600"/>
          </a:p>
          <a:p>
            <a:pPr>
              <a:lnSpc>
                <a:spcPts val="1860"/>
              </a:lnSpc>
              <a:spcAft>
                <a:spcPts val="200"/>
              </a:spcAft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600"/>
              <a:t>· 前后端分离架构保障系统可维护性</a:t>
            </a:r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822960" y="521208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70" y="5248910"/>
            <a:ext cx="10515600" cy="158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40"/>
              </a:lnSpc>
              <a:spcAft>
                <a:spcPts val="200"/>
              </a:spcAft>
              <a:defRPr sz="12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主要参考文献：</a:t>
            </a:r>
          </a:p>
          <a:p>
            <a:pPr>
              <a:lnSpc>
                <a:spcPts val="14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[1] 杨开振. 深入浅出Spring Boot 3.x[M]. 人民邮电出版社, 2024.</a:t>
            </a:r>
          </a:p>
          <a:p>
            <a:pPr>
              <a:lnSpc>
                <a:spcPts val="14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[2] 丁雪丰. 学透Spring[M]. 人民邮电出版社, 2023.   </a:t>
            </a:r>
          </a:p>
          <a:p>
            <a:pPr>
              <a:lnSpc>
                <a:spcPts val="14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[3] 尤雨溪. Vue.js设计与实现[M]. 人民邮电出版社, 2022.</a:t>
            </a:r>
          </a:p>
          <a:p>
            <a:pPr>
              <a:lnSpc>
                <a:spcPts val="14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[4] 赖帆. MyBatis核心技术全解与项目实战[M]. 人民邮电出版社, 2024.</a:t>
            </a:r>
          </a:p>
          <a:p>
            <a:pPr>
              <a:lnSpc>
                <a:spcPts val="14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[5] 刘士军等. 服务计算技术——RESTful服务设计与开发[M]. 清华大学出版社, 2024.</a:t>
            </a:r>
          </a:p>
          <a:p>
            <a:pPr>
              <a:lnSpc>
                <a:spcPts val="1450"/>
              </a:lnSpc>
              <a:spcAft>
                <a:spcPts val="200"/>
              </a:spcAft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[7] 申正阳等. 基于JWT的...认证[J]. 计算机应用与软件, 2024.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4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课题研究内容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RESEARCH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822960" y="1554480"/>
            <a:ext cx="26060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822960" y="1554480"/>
            <a:ext cx="26060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1005840" y="178308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645920" y="18470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系统需求分析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005840" y="2468880"/>
            <a:ext cx="2494280" cy="116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调研校园二手交易实际需求，</a:t>
            </a:r>
            <a:br>
              <a:rPr sz="1400"/>
            </a:br>
            <a:r>
              <a:rPr sz="1400"/>
              <a:t>明确目标用户群体，确定</a:t>
            </a:r>
            <a:br>
              <a:rPr sz="1400"/>
            </a:br>
            <a:r>
              <a:rPr sz="1400"/>
              <a:t>功能需求与非功能需求，</a:t>
            </a:r>
            <a:br>
              <a:rPr sz="1400"/>
            </a:br>
            <a:r>
              <a:rPr sz="1400"/>
              <a:t>设计三种用户角色</a:t>
            </a:r>
            <a:br>
              <a:rPr sz="1400"/>
            </a:br>
            <a:r>
              <a:rPr sz="1400"/>
              <a:t>（游客、普通用户、管理员</a:t>
            </a:r>
            <a:r>
              <a:t>）</a:t>
            </a: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3703320" y="1554480"/>
            <a:ext cx="26060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3703320" y="1554480"/>
            <a:ext cx="2606040" cy="502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8"/>
            </p:custDataLst>
          </p:nvPr>
        </p:nvSpPr>
        <p:spPr>
          <a:xfrm>
            <a:off x="3886200" y="1783080"/>
            <a:ext cx="5029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26280" y="18470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系统架构设计</a:t>
            </a: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3886200" y="2468880"/>
            <a:ext cx="2190750" cy="9531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采用前后端分离架构；</a:t>
            </a:r>
            <a:br>
              <a:rPr sz="1400"/>
            </a:br>
            <a:r>
              <a:rPr sz="1400"/>
              <a:t>后端 Spring Boot </a:t>
            </a:r>
            <a:br>
              <a:rPr sz="1400"/>
            </a:br>
            <a:r>
              <a:rPr sz="1400"/>
              <a:t>前端 Vue 3 组件化开发；</a:t>
            </a:r>
            <a:br>
              <a:rPr sz="1400"/>
            </a:br>
            <a:r>
              <a:rPr sz="1400"/>
              <a:t>数据库选用 MySQL 8.0</a:t>
            </a:r>
            <a:endParaRPr sz="1400"/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6583680" y="1554480"/>
            <a:ext cx="26060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2"/>
            </p:custDataLst>
          </p:nvPr>
        </p:nvSpPr>
        <p:spPr>
          <a:xfrm>
            <a:off x="6583680" y="1554480"/>
            <a:ext cx="2606040" cy="50292"/>
          </a:xfrm>
          <a:prstGeom prst="rect">
            <a:avLst/>
          </a:prstGeom>
          <a:solidFill>
            <a:srgbClr val="05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766560" y="1783080"/>
            <a:ext cx="502920" cy="502920"/>
          </a:xfrm>
          <a:prstGeom prst="roundRect">
            <a:avLst/>
          </a:prstGeom>
          <a:solidFill>
            <a:srgbClr val="05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7406640" y="18470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核心功能规划</a:t>
            </a: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766560" y="2468880"/>
            <a:ext cx="2494280" cy="1383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用户认证模块（JWT）；</a:t>
            </a:r>
            <a:br>
              <a:rPr sz="1400"/>
            </a:br>
            <a:r>
              <a:rPr sz="1400"/>
              <a:t>商品管理模块（CRUD + </a:t>
            </a:r>
            <a:endParaRPr sz="1400"/>
          </a:p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搜索）；</a:t>
            </a:r>
            <a:br>
              <a:rPr sz="1400"/>
            </a:br>
            <a:r>
              <a:rPr sz="1400"/>
              <a:t>订单管理模块（状态流转）；</a:t>
            </a:r>
            <a:br>
              <a:rPr sz="1400"/>
            </a:br>
            <a:r>
              <a:rPr sz="1400"/>
              <a:t>收藏与评论模块；</a:t>
            </a:r>
            <a:br>
              <a:rPr sz="1400"/>
            </a:br>
            <a:r>
              <a:rPr sz="1400"/>
              <a:t>后台管理模块（数据概览</a:t>
            </a:r>
            <a:r>
              <a:t>）</a:t>
            </a:r>
          </a:p>
        </p:txBody>
      </p:sp>
      <p:sp>
        <p:nvSpPr>
          <p:cNvPr id="21" name="Rounded Rectangle 20"/>
          <p:cNvSpPr/>
          <p:nvPr>
            <p:custDataLst>
              <p:tags r:id="rId16"/>
            </p:custDataLst>
          </p:nvPr>
        </p:nvSpPr>
        <p:spPr>
          <a:xfrm>
            <a:off x="9464040" y="1554480"/>
            <a:ext cx="26060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7"/>
            </p:custDataLst>
          </p:nvPr>
        </p:nvSpPr>
        <p:spPr>
          <a:xfrm>
            <a:off x="9464040" y="1554480"/>
            <a:ext cx="26060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18"/>
            </p:custDataLst>
          </p:nvPr>
        </p:nvSpPr>
        <p:spPr>
          <a:xfrm>
            <a:off x="9646920" y="178308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10287000" y="18470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系统测试验证</a:t>
            </a:r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9646920" y="2468880"/>
            <a:ext cx="1783080" cy="116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400"/>
              <a:t>编写功能测试用例，</a:t>
            </a:r>
            <a:br>
              <a:rPr sz="1400"/>
            </a:br>
            <a:r>
              <a:rPr sz="1400"/>
              <a:t>验证各模块正确性；</a:t>
            </a:r>
            <a:br>
              <a:rPr sz="1400"/>
            </a:br>
            <a:r>
              <a:rPr sz="1400"/>
              <a:t>前端可视化验证，</a:t>
            </a:r>
            <a:br>
              <a:rPr sz="1400"/>
            </a:br>
            <a:r>
              <a:rPr sz="1400"/>
              <a:t>确保界面友好美观、</a:t>
            </a:r>
            <a:br>
              <a:rPr sz="1400"/>
            </a:br>
            <a:r>
              <a:rPr sz="1400"/>
              <a:t>响应式布局适配多端</a:t>
            </a:r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5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ounded Rectangle 14"/>
          <p:cNvSpPr/>
          <p:nvPr/>
        </p:nvSpPr>
        <p:spPr>
          <a:xfrm>
            <a:off x="5883275" y="4719320"/>
            <a:ext cx="6125210" cy="170751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研究方法与技术路线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METHODOLOGY &amp; 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846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研究方法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48463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5029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7568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文献研究法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33832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200"/>
              <a:t>查阅 Spring Boot、Vue.js、JWT 认证、</a:t>
            </a:r>
            <a:br>
              <a:rPr sz="1200"/>
            </a:br>
            <a:r>
              <a:rPr sz="1200"/>
              <a:t>前后端分离架构等技术的权威文献与最佳实践，</a:t>
            </a:r>
            <a:br>
              <a:rPr sz="1200"/>
            </a:br>
            <a:r>
              <a:rPr sz="1200"/>
              <a:t>为系统实现提供理论支撑</a:t>
            </a:r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48463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91840"/>
            <a:ext cx="5029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0156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面向对象分析法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74701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200"/>
              <a:t>采用 UML 建模对系统进行需求分析，</a:t>
            </a:r>
            <a:br>
              <a:rPr sz="1200"/>
            </a:br>
            <a:r>
              <a:rPr sz="1200"/>
              <a:t>设计类模型、用例图与数据流图，</a:t>
            </a:r>
            <a:br>
              <a:rPr sz="1200"/>
            </a:br>
            <a:r>
              <a:rPr sz="1200"/>
              <a:t>明确各模块的职责边界</a:t>
            </a:r>
            <a:endParaRPr sz="1200"/>
          </a:p>
        </p:txBody>
      </p:sp>
      <p:sp>
        <p:nvSpPr>
          <p:cNvPr id="15" name="Rounded Rectangle 14"/>
          <p:cNvSpPr/>
          <p:nvPr/>
        </p:nvSpPr>
        <p:spPr>
          <a:xfrm>
            <a:off x="822960" y="4727575"/>
            <a:ext cx="484632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617720"/>
            <a:ext cx="5029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03648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原型法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83810"/>
            <a:ext cx="2773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200"/>
              <a:t>快速迭代开发，先构建核心功能原型，</a:t>
            </a:r>
            <a:br>
              <a:rPr sz="1200"/>
            </a:br>
            <a:r>
              <a:rPr sz="1200"/>
              <a:t>通过反馈循环逐步完善系统功能，</a:t>
            </a:r>
            <a:br>
              <a:rPr sz="1200"/>
            </a:br>
            <a:r>
              <a:rPr sz="1200"/>
              <a:t>降低开发风险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6217920" y="150876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65960"/>
            <a:ext cx="6031230" cy="228981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后端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14884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Spring Boot 3.3 + MyBatis-Plus 3.5 + MySQL 8.0 + JWT + Maven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0720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807208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Vue 3 + Vite 5 + Element Plus + Pinia + Vue Router + ECharts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655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开发流程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465576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需求分析 → 架构设计 → 编码实现 → 测试验证 → 论文撰写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70916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79171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项目结构规划</a:t>
            </a:r>
          </a:p>
        </p:txBody>
      </p:sp>
      <p:sp>
        <p:nvSpPr>
          <p:cNvPr id="29" name="TextBox 28"/>
          <p:cNvSpPr txBox="1"/>
          <p:nvPr>
            <p:custDataLst>
              <p:tags r:id="rId1"/>
            </p:custDataLst>
          </p:nvPr>
        </p:nvSpPr>
        <p:spPr>
          <a:xfrm>
            <a:off x="6301105" y="508381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backend/</a:t>
            </a:r>
          </a:p>
        </p:txBody>
      </p:sp>
      <p:sp>
        <p:nvSpPr>
          <p:cNvPr id="30" name="TextBox 29"/>
          <p:cNvSpPr txBox="1"/>
          <p:nvPr>
            <p:custDataLst>
              <p:tags r:id="rId2"/>
            </p:custDataLst>
          </p:nvPr>
        </p:nvSpPr>
        <p:spPr>
          <a:xfrm>
            <a:off x="7506335" y="5111750"/>
            <a:ext cx="5775325" cy="3003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Spring Boot 应用 · Controller/Service/Mapper/Entity 四层</a:t>
            </a:r>
          </a:p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 · resources/mapper XML 映射</a:t>
            </a:r>
          </a:p>
        </p:txBody>
      </p:sp>
      <p:sp>
        <p:nvSpPr>
          <p:cNvPr id="31" name="TextBox 30"/>
          <p:cNvSpPr txBox="1"/>
          <p:nvPr>
            <p:custDataLst>
              <p:tags r:id="rId3"/>
            </p:custDataLst>
          </p:nvPr>
        </p:nvSpPr>
        <p:spPr>
          <a:xfrm>
            <a:off x="6301105" y="5500497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frontend/</a:t>
            </a:r>
          </a:p>
        </p:txBody>
      </p:sp>
      <p:sp>
        <p:nvSpPr>
          <p:cNvPr id="32" name="TextBox 31"/>
          <p:cNvSpPr txBox="1"/>
          <p:nvPr>
            <p:custDataLst>
              <p:tags r:id="rId4"/>
            </p:custDataLst>
          </p:nvPr>
        </p:nvSpPr>
        <p:spPr>
          <a:xfrm>
            <a:off x="7496810" y="5518785"/>
            <a:ext cx="5020310" cy="3429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Vue 3 应用 · Views 页面/Components 组件/API 接口模块/Stores 状态/</a:t>
            </a:r>
          </a:p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Utils 工具</a:t>
            </a:r>
          </a:p>
        </p:txBody>
      </p:sp>
      <p:sp>
        <p:nvSpPr>
          <p:cNvPr id="33" name="TextBox 32"/>
          <p:cNvSpPr txBox="1"/>
          <p:nvPr>
            <p:custDataLst>
              <p:tags r:id="rId5"/>
            </p:custDataLst>
          </p:nvPr>
        </p:nvSpPr>
        <p:spPr>
          <a:xfrm>
            <a:off x="6301105" y="591718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database/</a:t>
            </a:r>
          </a:p>
        </p:txBody>
      </p:sp>
      <p:sp>
        <p:nvSpPr>
          <p:cNvPr id="34" name="TextBox 33"/>
          <p:cNvSpPr txBox="1"/>
          <p:nvPr>
            <p:custDataLst>
              <p:tags r:id="rId6"/>
            </p:custDataLst>
          </p:nvPr>
        </p:nvSpPr>
        <p:spPr>
          <a:xfrm>
            <a:off x="7506335" y="5949315"/>
            <a:ext cx="4996180" cy="2965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MySQL 8.0 · secondhand_db · 建表脚本 + 初始化数据（分类）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6 / 10</a:t>
            </a:r>
          </a:p>
        </p:txBody>
      </p:sp>
      <p:sp>
        <p:nvSpPr>
          <p:cNvPr id="37" name="Rectangle 15"/>
          <p:cNvSpPr/>
          <p:nvPr/>
        </p:nvSpPr>
        <p:spPr>
          <a:xfrm>
            <a:off x="5892800" y="4719320"/>
            <a:ext cx="76200" cy="15963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功能模块详细规划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DETAILED FUNCTIONAL MODULES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417320"/>
            <a:ext cx="35661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685800" y="1554480"/>
            <a:ext cx="329184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85800" y="1645920"/>
            <a:ext cx="120396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rPr sz="2000"/>
              <a:t>用户模块</a:t>
            </a:r>
            <a:endParaRPr sz="2000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685800" y="2165350"/>
            <a:ext cx="3658235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用户注册：用户名 + 密码(MD5加密) + 昵称</a:t>
            </a:r>
            <a:br>
              <a:rPr sz="1200"/>
            </a:br>
            <a:r>
              <a:rPr sz="1200"/>
              <a:t>用户登录：JWT 令牌认证，24h 过期</a:t>
            </a:r>
            <a:br>
              <a:rPr sz="1200"/>
            </a:br>
            <a:r>
              <a:rPr sz="1200"/>
              <a:t>个人资料管理：头像上传、手机号绑定、邮箱绑定</a:t>
            </a:r>
            <a:br>
              <a:rPr sz="1200"/>
            </a:br>
            <a:r>
              <a:rPr sz="1200"/>
              <a:t>修改密码：验证原密码后更新</a:t>
            </a:r>
            <a:br>
              <a:rPr sz="1200"/>
            </a:br>
            <a:r>
              <a:rPr sz="1200"/>
              <a:t>角色体系：USER（普通用户）/ ADMIN（管理员）</a:t>
            </a:r>
            <a:br>
              <a:rPr sz="1200"/>
            </a:br>
            <a:r>
              <a:rPr sz="1200"/>
              <a:t>账号状态：正常 / 禁用，管理员可控制</a:t>
            </a:r>
            <a:endParaRPr sz="1200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343400" y="1417320"/>
            <a:ext cx="35661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480560" y="1554480"/>
            <a:ext cx="3291840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4480560" y="1645920"/>
            <a:ext cx="120396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2000"/>
              <a:t>商品模块</a:t>
            </a:r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480560" y="1965960"/>
            <a:ext cx="3535680" cy="1383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发布商品：标题、描述、售价、原价、分类、</a:t>
            </a:r>
            <a:endParaRPr sz="1200"/>
          </a:p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多图上传</a:t>
            </a:r>
            <a:br>
              <a:rPr sz="1200"/>
            </a:br>
            <a:r>
              <a:rPr sz="1200"/>
              <a:t>编辑商品：仅发布者可修改，校验所有权</a:t>
            </a:r>
            <a:br>
              <a:rPr sz="1200"/>
            </a:br>
            <a:r>
              <a:rPr sz="1200"/>
              <a:t>下架/删除：卖家下架，管理员可删除任意商品</a:t>
            </a:r>
            <a:br>
              <a:rPr sz="1200"/>
            </a:br>
            <a:r>
              <a:rPr sz="1200"/>
              <a:t>商品列表：分页 + 关键词搜索 + 分类筛选 + 排序</a:t>
            </a:r>
            <a:br>
              <a:rPr sz="1200"/>
            </a:br>
            <a:r>
              <a:rPr sz="1200"/>
              <a:t>商品详情：浏览量自动累加，详情页多图切换</a:t>
            </a:r>
            <a:br>
              <a:rPr sz="1200"/>
            </a:br>
            <a:r>
              <a:rPr sz="1200"/>
              <a:t>状态管理：在售/已售/下架</a:t>
            </a:r>
            <a:endParaRPr sz="1200"/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138160" y="1417320"/>
            <a:ext cx="35661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8275320" y="1554480"/>
            <a:ext cx="3291840" cy="32004"/>
          </a:xfrm>
          <a:prstGeom prst="rect">
            <a:avLst/>
          </a:prstGeom>
          <a:solidFill>
            <a:srgbClr val="05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8275320" y="1645920"/>
            <a:ext cx="120396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rPr sz="2000"/>
              <a:t>订单模块</a:t>
            </a:r>
            <a:endParaRPr sz="2000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8275320" y="1965960"/>
            <a:ext cx="3423285" cy="1383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创建订单：买家下单，商品自动标记</a:t>
            </a:r>
            <a:r>
              <a:rPr lang="zh-CN" sz="1200"/>
              <a:t>为已售</a:t>
            </a:r>
            <a:br>
              <a:rPr sz="1200"/>
            </a:br>
            <a:r>
              <a:rPr sz="1200"/>
              <a:t>状态流转：待付款→已付款→已发货→已完成</a:t>
            </a:r>
            <a:br>
              <a:rPr sz="1200"/>
            </a:br>
            <a:r>
              <a:rPr sz="1200"/>
              <a:t>取消订单：买家取消，商品自动恢复</a:t>
            </a:r>
            <a:r>
              <a:rPr lang="zh-CN" sz="1200"/>
              <a:t>在售</a:t>
            </a:r>
            <a:br>
              <a:rPr sz="1200"/>
            </a:br>
            <a:r>
              <a:rPr sz="1200"/>
              <a:t>订单编号：全局唯一编号，保障数据追溯</a:t>
            </a:r>
            <a:br>
              <a:rPr sz="1200"/>
            </a:br>
            <a:r>
              <a:rPr sz="1200"/>
              <a:t>订单列表：按状态分类展示</a:t>
            </a:r>
            <a:endParaRPr sz="1200"/>
          </a:p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 </a:t>
            </a:r>
            <a:r>
              <a:rPr lang="en-US" sz="1200"/>
              <a:t>              </a:t>
            </a:r>
            <a:r>
              <a:rPr sz="1200"/>
              <a:t>（全部/待付款/已发货等）</a:t>
            </a:r>
            <a:br>
              <a:rPr sz="1200"/>
            </a:br>
            <a:r>
              <a:rPr sz="1200"/>
              <a:t>权限校验：买家付款·取消 / 卖家发货，防止越权</a:t>
            </a:r>
            <a:endParaRPr sz="1200"/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548640" y="4023360"/>
            <a:ext cx="35661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85800" y="4160520"/>
            <a:ext cx="329184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85800" y="4251960"/>
            <a:ext cx="14592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rPr sz="2000"/>
              <a:t>收藏与评论</a:t>
            </a:r>
            <a:endParaRPr sz="2000"/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685800" y="4572000"/>
            <a:ext cx="33832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收藏商品：一键收藏，切换收藏状态</a:t>
            </a:r>
            <a:br>
              <a:rPr sz="1200"/>
            </a:br>
            <a:r>
              <a:rPr sz="1200"/>
              <a:t>取消收藏：再次点击取消，交互即时反馈</a:t>
            </a:r>
            <a:br>
              <a:rPr sz="1200"/>
            </a:br>
            <a:r>
              <a:rPr sz="1200"/>
              <a:t>收藏列表：分页查看已收藏商品</a:t>
            </a:r>
            <a:br>
              <a:rPr sz="1200"/>
            </a:br>
            <a:r>
              <a:rPr sz="1200"/>
              <a:t>防重复：数据库唯一约束(user_id, product_id)</a:t>
            </a:r>
            <a:br>
              <a:rPr sz="1200"/>
            </a:br>
            <a:r>
              <a:rPr sz="1200"/>
              <a:t>发表评论：1-5 星评分 + 文字内容 </a:t>
            </a:r>
            <a:br>
              <a:rPr sz="1200"/>
            </a:br>
            <a:r>
              <a:rPr sz="1200"/>
              <a:t>评论展示：商品详情页按时间倒序展示评论列表</a:t>
            </a:r>
            <a:endParaRPr sz="1200"/>
          </a:p>
        </p:txBody>
      </p:sp>
      <p:sp>
        <p:nvSpPr>
          <p:cNvPr id="22" name="Rounded Rectangle 21"/>
          <p:cNvSpPr/>
          <p:nvPr>
            <p:custDataLst>
              <p:tags r:id="rId17"/>
            </p:custDataLst>
          </p:nvPr>
        </p:nvSpPr>
        <p:spPr>
          <a:xfrm>
            <a:off x="4343400" y="4023360"/>
            <a:ext cx="35661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8"/>
            </p:custDataLst>
          </p:nvPr>
        </p:nvSpPr>
        <p:spPr>
          <a:xfrm>
            <a:off x="4480560" y="4160520"/>
            <a:ext cx="3291840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4480560" y="4251960"/>
            <a:ext cx="120396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2000"/>
              <a:t>后台管理</a:t>
            </a:r>
            <a:endParaRPr sz="2000"/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4480560" y="4572000"/>
            <a:ext cx="3383280" cy="1568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数据概览：饼图(分类分布) + 柱状图(订单状态)</a:t>
            </a:r>
            <a:br>
              <a:rPr sz="1200"/>
            </a:br>
            <a:r>
              <a:rPr sz="1200"/>
              <a:t>用户管理：分页列表，支持禁用/启用用户账号</a:t>
            </a:r>
            <a:br>
              <a:rPr sz="1200"/>
            </a:br>
            <a:r>
              <a:rPr sz="1200"/>
              <a:t>商品管理：查看全平台商品，管理员可删除违规</a:t>
            </a:r>
            <a:endParaRPr sz="1200"/>
          </a:p>
          <a:p>
            <a:pPr indent="457200"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en-US" sz="1200"/>
              <a:t>       </a:t>
            </a:r>
            <a:r>
              <a:rPr sz="1200"/>
              <a:t>商品</a:t>
            </a:r>
            <a:br>
              <a:rPr sz="1200"/>
            </a:br>
            <a:r>
              <a:rPr sz="1200"/>
              <a:t>订单管理：查看全平台订单及状态</a:t>
            </a:r>
            <a:br>
              <a:rPr sz="1200"/>
            </a:br>
            <a:r>
              <a:rPr sz="1200"/>
              <a:t>分类管理：一二级分类的增删改查，排序调整</a:t>
            </a:r>
            <a:br>
              <a:rPr sz="1200"/>
            </a:br>
            <a:r>
              <a:rPr sz="1200"/>
              <a:t>权限隔离：仅</a:t>
            </a:r>
            <a:r>
              <a:rPr lang="zh-CN" sz="1200"/>
              <a:t>管理员</a:t>
            </a:r>
            <a:r>
              <a:rPr sz="1200"/>
              <a:t>角色</a:t>
            </a:r>
            <a:r>
              <a:rPr lang="en-US" sz="1200"/>
              <a:t>admin</a:t>
            </a:r>
            <a:r>
              <a:rPr sz="1200"/>
              <a:t>可访问，路由</a:t>
            </a:r>
            <a:endParaRPr sz="1200"/>
          </a:p>
          <a:p>
            <a:pPr indent="457200"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 </a:t>
            </a:r>
            <a:r>
              <a:rPr lang="en-US" sz="1200"/>
              <a:t>      </a:t>
            </a:r>
            <a:r>
              <a:rPr sz="1200"/>
              <a:t>守卫拦截</a:t>
            </a:r>
            <a:endParaRPr sz="1200"/>
          </a:p>
        </p:txBody>
      </p:sp>
      <p:sp>
        <p:nvSpPr>
          <p:cNvPr id="26" name="Rounded Rectangle 25"/>
          <p:cNvSpPr/>
          <p:nvPr>
            <p:custDataLst>
              <p:tags r:id="rId21"/>
            </p:custDataLst>
          </p:nvPr>
        </p:nvSpPr>
        <p:spPr>
          <a:xfrm>
            <a:off x="8138160" y="4023360"/>
            <a:ext cx="356616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2"/>
            </p:custDataLst>
          </p:nvPr>
        </p:nvSpPr>
        <p:spPr>
          <a:xfrm>
            <a:off x="8275320" y="4160520"/>
            <a:ext cx="329184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8275320" y="4251960"/>
            <a:ext cx="120396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rPr sz="2000"/>
              <a:t>界面设计</a:t>
            </a:r>
            <a:endParaRPr sz="2000"/>
          </a:p>
        </p:txBody>
      </p:sp>
      <p:sp>
        <p:nvSpPr>
          <p:cNvPr id="29" name="TextBox 28"/>
          <p:cNvSpPr txBox="1"/>
          <p:nvPr>
            <p:custDataLst>
              <p:tags r:id="rId24"/>
            </p:custDataLst>
          </p:nvPr>
        </p:nvSpPr>
        <p:spPr>
          <a:xfrm>
            <a:off x="8275320" y="4572000"/>
            <a:ext cx="3535680" cy="1568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sz="1200"/>
              <a:t>品牌色系：</a:t>
            </a:r>
            <a:r>
              <a:rPr lang="zh-CN" altLang="en-US" sz="1200"/>
              <a:t>以清新绿色为主色调，搭配暖色点缀，</a:t>
            </a:r>
            <a:endParaRPr lang="zh-CN" altLang="en-US" sz="1200"/>
          </a:p>
          <a:p>
            <a:pPr indent="457200"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zh-CN" altLang="en-US" sz="1200"/>
              <a:t> </a:t>
            </a:r>
            <a:r>
              <a:rPr lang="en-US" altLang="zh-CN" sz="1200"/>
              <a:t>      </a:t>
            </a:r>
            <a:r>
              <a:rPr lang="zh-CN" altLang="en-US" sz="1200"/>
              <a:t>传达环保活力的校园氛围</a:t>
            </a:r>
            <a:br>
              <a:rPr sz="1200"/>
            </a:br>
            <a:r>
              <a:rPr sz="1200"/>
              <a:t>骨架屏：</a:t>
            </a:r>
            <a:r>
              <a:rPr lang="zh-CN" altLang="en-US" sz="1200"/>
              <a:t>计划在首页和列表页用骨架占位替代传统</a:t>
            </a:r>
            <a:endParaRPr lang="zh-CN" altLang="en-US" sz="1200"/>
          </a:p>
          <a:p>
            <a:pPr indent="457200"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zh-CN" altLang="en-US" sz="1200"/>
              <a:t> </a:t>
            </a:r>
            <a:r>
              <a:rPr lang="en-US" altLang="zh-CN" sz="1200"/>
              <a:t>  </a:t>
            </a:r>
            <a:r>
              <a:rPr lang="zh-CN" altLang="en-US" sz="1200"/>
              <a:t> </a:t>
            </a:r>
            <a:r>
              <a:rPr lang="en-US" altLang="zh-CN" sz="1200"/>
              <a:t>loading </a:t>
            </a:r>
            <a:r>
              <a:rPr lang="zh-CN" altLang="en-US" sz="1200"/>
              <a:t>动画，提升加载体验</a:t>
            </a:r>
            <a:br>
              <a:rPr sz="1200"/>
            </a:br>
            <a:r>
              <a:rPr sz="1200"/>
              <a:t>入场动画：</a:t>
            </a:r>
            <a:r>
              <a:rPr lang="zh-CN" altLang="en-US" sz="1200"/>
              <a:t>卡片内容采用轻量渐入动效，增强页面</a:t>
            </a:r>
            <a:endParaRPr lang="zh-CN" altLang="en-US" sz="1200"/>
          </a:p>
          <a:p>
            <a:pPr indent="457200" algn="l">
              <a:defRPr sz="9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rPr lang="zh-CN" altLang="en-US" sz="1200"/>
              <a:t> </a:t>
            </a:r>
            <a:r>
              <a:rPr lang="en-US" altLang="zh-CN" sz="1200"/>
              <a:t>      </a:t>
            </a:r>
            <a:r>
              <a:rPr lang="zh-CN" altLang="en-US" sz="1200"/>
              <a:t>浏览的节奏感</a:t>
            </a:r>
            <a:br>
              <a:rPr sz="1200"/>
            </a:br>
            <a:r>
              <a:rPr sz="1200"/>
              <a:t>响应式布局：</a:t>
            </a:r>
            <a:r>
              <a:rPr lang="zh-CN" altLang="en-US" sz="1200"/>
              <a:t>适配</a:t>
            </a:r>
            <a:r>
              <a:rPr lang="en-US" altLang="zh-CN" sz="1200"/>
              <a:t>pc</a:t>
            </a:r>
            <a:r>
              <a:rPr lang="zh-CN" altLang="en-US" sz="1200"/>
              <a:t>、平板、手机三端</a:t>
            </a:r>
            <a:br>
              <a:rPr sz="1200"/>
            </a:br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7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拟解决的关键问题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KEY PROBLEMS TO BE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822960" y="1508760"/>
            <a:ext cx="45720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50392" y="1691640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63040" y="1554480"/>
            <a:ext cx="196977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rPr sz="2000"/>
              <a:t>无状态认证方案</a:t>
            </a:r>
            <a:endParaRPr sz="2000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463040" y="1856232"/>
            <a:ext cx="504571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400"/>
              <a:t>采用 JWT 实现无状态用户认证，解决分布式环境下的</a:t>
            </a:r>
            <a:br>
              <a:rPr sz="1400"/>
            </a:br>
            <a:r>
              <a:rPr sz="1400"/>
              <a:t>身份验证问题。使用</a:t>
            </a:r>
            <a:r>
              <a:rPr lang="en-US" altLang="zh-CN" sz="1400"/>
              <a:t>HMAC-SHA384 </a:t>
            </a:r>
            <a:r>
              <a:rPr sz="1400"/>
              <a:t>签名算法</a:t>
            </a:r>
            <a:endParaRPr sz="1400"/>
          </a:p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400"/>
              <a:t>设置24h Token 过期机制</a:t>
            </a:r>
            <a:r>
              <a:rPr lang="zh-CN" sz="1400"/>
              <a:t>，</a:t>
            </a:r>
            <a:r>
              <a:rPr sz="1400"/>
              <a:t>前端通过 Axios 拦截器自动附加。</a:t>
            </a:r>
            <a:endParaRPr sz="1400"/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822960" y="3255010"/>
            <a:ext cx="45720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50392" y="3437890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463040" y="3300730"/>
            <a:ext cx="171450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2000"/>
              <a:t>商品状态管理</a:t>
            </a:r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1463040" y="3699637"/>
            <a:ext cx="480568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400"/>
              <a:t>设计合理的状态机模型管理商品上下架。商品有三种状态：</a:t>
            </a:r>
            <a:br>
              <a:rPr sz="1400"/>
            </a:br>
            <a:r>
              <a:rPr sz="1400"/>
              <a:t>在售、已售、下架</a:t>
            </a:r>
            <a:r>
              <a:rPr lang="zh-CN" sz="1400"/>
              <a:t>。</a:t>
            </a:r>
            <a:br>
              <a:rPr lang="zh-CN" sz="1400"/>
            </a:br>
            <a:r>
              <a:rPr sz="1400"/>
              <a:t>状态变更需校验所有权，保障数据一致性。</a:t>
            </a:r>
            <a:endParaRPr sz="1400"/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22960" y="4868545"/>
            <a:ext cx="457200" cy="777240"/>
          </a:xfrm>
          <a:prstGeom prst="roundRect">
            <a:avLst/>
          </a:prstGeom>
          <a:solidFill>
            <a:srgbClr val="05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850392" y="5051425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1463040" y="4914265"/>
            <a:ext cx="171450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rPr sz="2000"/>
              <a:t>订单状态流转</a:t>
            </a:r>
            <a:endParaRPr sz="2000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1463040" y="5217922"/>
            <a:ext cx="462788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400"/>
              <a:t>设计完整的订单状态流转机制：待付款→已付款→已发货</a:t>
            </a:r>
            <a:br>
              <a:rPr sz="1400"/>
            </a:br>
            <a:r>
              <a:rPr sz="1400"/>
              <a:t>→已完成，支持取消操作。取消订单时自动将商品状态</a:t>
            </a:r>
            <a:br>
              <a:rPr sz="1400"/>
            </a:br>
            <a:r>
              <a:rPr sz="1400"/>
              <a:t>恢复为在售，实现自动重新上架。</a:t>
            </a:r>
            <a:endParaRPr sz="1400"/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595110" y="1508760"/>
            <a:ext cx="45720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6595237" y="1691640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7351395" y="1554480"/>
            <a:ext cx="120396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rPr sz="2000"/>
              <a:t>权限控制</a:t>
            </a:r>
            <a:endParaRPr sz="2000"/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7351395" y="1953387"/>
            <a:ext cx="414972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400"/>
              <a:t>实现基于角色的访问控制(RBAC)：游客仅可浏览，</a:t>
            </a:r>
            <a:br>
              <a:rPr sz="1400"/>
            </a:br>
            <a:r>
              <a:rPr sz="1400"/>
              <a:t>普通用户可发布/交易，管理员可管理全平台。</a:t>
            </a:r>
            <a:br>
              <a:rPr sz="1400"/>
            </a:br>
            <a:r>
              <a:rPr sz="1400"/>
              <a:t>前端路由守卫 + 后端拦截器双重校验。</a:t>
            </a:r>
            <a:endParaRPr sz="1400"/>
          </a:p>
        </p:txBody>
      </p:sp>
      <p:sp>
        <p:nvSpPr>
          <p:cNvPr id="22" name="Rounded Rectangle 21"/>
          <p:cNvSpPr/>
          <p:nvPr>
            <p:custDataLst>
              <p:tags r:id="rId17"/>
            </p:custDataLst>
          </p:nvPr>
        </p:nvSpPr>
        <p:spPr>
          <a:xfrm>
            <a:off x="6544310" y="3300730"/>
            <a:ext cx="45720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6553962" y="3553460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7241540" y="3317875"/>
            <a:ext cx="196977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rPr sz="2000"/>
              <a:t>前后端数据交互</a:t>
            </a:r>
            <a:endParaRPr sz="2000"/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7277100" y="3699637"/>
            <a:ext cx="448500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rPr sz="1400"/>
              <a:t>设计统一的 RESTful API 接口规范，采用 Result</a:t>
            </a:r>
            <a:br>
              <a:rPr sz="1400"/>
            </a:br>
            <a:r>
              <a:rPr sz="1400"/>
              <a:t>统一返回格式，全局异常处理转换为标准 JSON 响应。</a:t>
            </a:r>
            <a:br>
              <a:rPr sz="1400"/>
            </a:br>
            <a:r>
              <a:rPr sz="1400"/>
              <a:t>Vite Proxy 解决开发环境跨域问题。</a:t>
            </a:r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8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9436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预期目标与进度安排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 panose="020B0604020202020204"/>
              </a:defRPr>
            </a:pPr>
            <a:r>
              <a:t>EXPECTED OUTCOMES &amp;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预期目标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0292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5029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391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1. 完成需求分析，编制详细的需求规格说明书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58440"/>
            <a:ext cx="50292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758440"/>
            <a:ext cx="5029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315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2. 设计并实现完整的 Web 应用系统（前端 + 后端）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50292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566160"/>
            <a:ext cx="5029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3. 实现六大核心功能模块并完成集成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73880"/>
            <a:ext cx="50292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373880"/>
            <a:ext cx="5029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4703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4. 提供友好的用户界面和良好的用户体验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04460"/>
            <a:ext cx="50292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204460"/>
            <a:ext cx="5029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776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5. 编写规范的毕业论文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进度安排</a:t>
            </a:r>
          </a:p>
        </p:txBody>
      </p:sp>
      <p:sp>
        <p:nvSpPr>
          <p:cNvPr id="23" name="TextBox 22"/>
          <p:cNvSpPr txBox="1"/>
          <p:nvPr>
            <p:custDataLst>
              <p:tags r:id="rId1"/>
            </p:custDataLst>
          </p:nvPr>
        </p:nvSpPr>
        <p:spPr>
          <a:xfrm>
            <a:off x="6217920" y="1965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24" name="TextBox 23"/>
          <p:cNvSpPr txBox="1"/>
          <p:nvPr>
            <p:custDataLst>
              <p:tags r:id="rId2"/>
            </p:custDataLst>
          </p:nvPr>
        </p:nvSpPr>
        <p:spPr>
          <a:xfrm>
            <a:off x="7315200" y="1965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 1-2 周</a:t>
            </a:r>
          </a:p>
        </p:txBody>
      </p:sp>
      <p:sp>
        <p:nvSpPr>
          <p:cNvPr id="25" name="Rounded Rectangle 24"/>
          <p:cNvSpPr/>
          <p:nvPr>
            <p:custDataLst>
              <p:tags r:id="rId3"/>
            </p:custDataLst>
          </p:nvPr>
        </p:nvSpPr>
        <p:spPr>
          <a:xfrm>
            <a:off x="8503920" y="1984248"/>
            <a:ext cx="2743200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>
            <p:custDataLst>
              <p:tags r:id="rId4"/>
            </p:custDataLst>
          </p:nvPr>
        </p:nvSpPr>
        <p:spPr>
          <a:xfrm>
            <a:off x="8503920" y="1984248"/>
            <a:ext cx="731520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5"/>
            </p:custDataLst>
          </p:nvPr>
        </p:nvSpPr>
        <p:spPr>
          <a:xfrm>
            <a:off x="8595360" y="2203704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需求调研，编写需求规格说明书</a:t>
            </a:r>
          </a:p>
        </p:txBody>
      </p:sp>
      <p:sp>
        <p:nvSpPr>
          <p:cNvPr id="28" name="TextBox 27"/>
          <p:cNvSpPr txBox="1"/>
          <p:nvPr>
            <p:custDataLst>
              <p:tags r:id="rId6"/>
            </p:custDataLst>
          </p:nvPr>
        </p:nvSpPr>
        <p:spPr>
          <a:xfrm>
            <a:off x="6217920" y="280720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系统设计</a:t>
            </a:r>
          </a:p>
        </p:txBody>
      </p:sp>
      <p:sp>
        <p:nvSpPr>
          <p:cNvPr id="29" name="TextBox 28"/>
          <p:cNvSpPr txBox="1"/>
          <p:nvPr>
            <p:custDataLst>
              <p:tags r:id="rId7"/>
            </p:custDataLst>
          </p:nvPr>
        </p:nvSpPr>
        <p:spPr>
          <a:xfrm>
            <a:off x="7315200" y="280720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 3-4 周</a:t>
            </a:r>
          </a:p>
        </p:txBody>
      </p:sp>
      <p:sp>
        <p:nvSpPr>
          <p:cNvPr id="30" name="Rounded Rectangle 29"/>
          <p:cNvSpPr/>
          <p:nvPr>
            <p:custDataLst>
              <p:tags r:id="rId8"/>
            </p:custDataLst>
          </p:nvPr>
        </p:nvSpPr>
        <p:spPr>
          <a:xfrm>
            <a:off x="8503920" y="2825496"/>
            <a:ext cx="2743200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>
            <p:custDataLst>
              <p:tags r:id="rId9"/>
            </p:custDataLst>
          </p:nvPr>
        </p:nvSpPr>
        <p:spPr>
          <a:xfrm>
            <a:off x="8503920" y="2825496"/>
            <a:ext cx="731520" cy="2011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10"/>
            </p:custDataLst>
          </p:nvPr>
        </p:nvSpPr>
        <p:spPr>
          <a:xfrm>
            <a:off x="8595360" y="3044952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架构设计、数据库设计</a:t>
            </a:r>
          </a:p>
        </p:txBody>
      </p:sp>
      <p:sp>
        <p:nvSpPr>
          <p:cNvPr id="33" name="TextBox 32"/>
          <p:cNvSpPr txBox="1"/>
          <p:nvPr>
            <p:custDataLst>
              <p:tags r:id="rId11"/>
            </p:custDataLst>
          </p:nvPr>
        </p:nvSpPr>
        <p:spPr>
          <a:xfrm>
            <a:off x="6217920" y="36484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59E6B"/>
                </a:solidFill>
                <a:latin typeface="微软雅黑" panose="020B0503020204020204" charset="-122"/>
              </a:defRPr>
            </a:pPr>
            <a:r>
              <a:t>编码实现</a:t>
            </a:r>
          </a:p>
        </p:txBody>
      </p:sp>
      <p:sp>
        <p:nvSpPr>
          <p:cNvPr id="34" name="TextBox 33"/>
          <p:cNvSpPr txBox="1"/>
          <p:nvPr>
            <p:custDataLst>
              <p:tags r:id="rId12"/>
            </p:custDataLst>
          </p:nvPr>
        </p:nvSpPr>
        <p:spPr>
          <a:xfrm>
            <a:off x="7315200" y="3648456"/>
            <a:ext cx="76898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 5-</a:t>
            </a:r>
            <a:r>
              <a:rPr lang="en-US"/>
              <a:t>8</a:t>
            </a:r>
            <a:r>
              <a:t> 周</a:t>
            </a:r>
          </a:p>
        </p:txBody>
      </p:sp>
      <p:sp>
        <p:nvSpPr>
          <p:cNvPr id="35" name="Rounded Rectangle 34"/>
          <p:cNvSpPr/>
          <p:nvPr>
            <p:custDataLst>
              <p:tags r:id="rId13"/>
            </p:custDataLst>
          </p:nvPr>
        </p:nvSpPr>
        <p:spPr>
          <a:xfrm>
            <a:off x="8503920" y="3666744"/>
            <a:ext cx="2743200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>
            <p:custDataLst>
              <p:tags r:id="rId14"/>
            </p:custDataLst>
          </p:nvPr>
        </p:nvSpPr>
        <p:spPr>
          <a:xfrm>
            <a:off x="8503920" y="3666744"/>
            <a:ext cx="2743200" cy="201168"/>
          </a:xfrm>
          <a:prstGeom prst="roundRect">
            <a:avLst/>
          </a:prstGeom>
          <a:solidFill>
            <a:srgbClr val="05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>
            <p:custDataLst>
              <p:tags r:id="rId15"/>
            </p:custDataLst>
          </p:nvPr>
        </p:nvSpPr>
        <p:spPr>
          <a:xfrm>
            <a:off x="8595360" y="38862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前后端编码，完成六大功能模块</a:t>
            </a:r>
          </a:p>
        </p:txBody>
      </p:sp>
      <p:sp>
        <p:nvSpPr>
          <p:cNvPr id="38" name="TextBox 37"/>
          <p:cNvSpPr txBox="1"/>
          <p:nvPr>
            <p:custDataLst>
              <p:tags r:id="rId16"/>
            </p:custDataLst>
          </p:nvPr>
        </p:nvSpPr>
        <p:spPr>
          <a:xfrm>
            <a:off x="6217920" y="448970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39" name="TextBox 38"/>
          <p:cNvSpPr txBox="1"/>
          <p:nvPr>
            <p:custDataLst>
              <p:tags r:id="rId17"/>
            </p:custDataLst>
          </p:nvPr>
        </p:nvSpPr>
        <p:spPr>
          <a:xfrm>
            <a:off x="7315200" y="4489704"/>
            <a:ext cx="850900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 </a:t>
            </a:r>
            <a:r>
              <a:rPr lang="en-US"/>
              <a:t>9</a:t>
            </a:r>
            <a:r>
              <a:t>-1</a:t>
            </a:r>
            <a:r>
              <a:rPr lang="en-US"/>
              <a:t>0</a:t>
            </a:r>
            <a:r>
              <a:t> 周</a:t>
            </a:r>
          </a:p>
        </p:txBody>
      </p:sp>
      <p:sp>
        <p:nvSpPr>
          <p:cNvPr id="40" name="Rounded Rectangle 39"/>
          <p:cNvSpPr/>
          <p:nvPr>
            <p:custDataLst>
              <p:tags r:id="rId18"/>
            </p:custDataLst>
          </p:nvPr>
        </p:nvSpPr>
        <p:spPr>
          <a:xfrm>
            <a:off x="8503920" y="4507992"/>
            <a:ext cx="2743200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>
            <p:custDataLst>
              <p:tags r:id="rId19"/>
            </p:custDataLst>
          </p:nvPr>
        </p:nvSpPr>
        <p:spPr>
          <a:xfrm>
            <a:off x="8503920" y="4507992"/>
            <a:ext cx="731520" cy="2011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20"/>
            </p:custDataLst>
          </p:nvPr>
        </p:nvSpPr>
        <p:spPr>
          <a:xfrm>
            <a:off x="8595360" y="4727448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功能测试、性能测试、可视化验证</a:t>
            </a:r>
          </a:p>
        </p:txBody>
      </p:sp>
      <p:sp>
        <p:nvSpPr>
          <p:cNvPr id="43" name="TextBox 42"/>
          <p:cNvSpPr txBox="1"/>
          <p:nvPr>
            <p:custDataLst>
              <p:tags r:id="rId21"/>
            </p:custDataLst>
          </p:nvPr>
        </p:nvSpPr>
        <p:spPr>
          <a:xfrm>
            <a:off x="6217920" y="53309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论文撰写</a:t>
            </a:r>
          </a:p>
        </p:txBody>
      </p:sp>
      <p:sp>
        <p:nvSpPr>
          <p:cNvPr id="44" name="TextBox 43"/>
          <p:cNvSpPr txBox="1"/>
          <p:nvPr>
            <p:custDataLst>
              <p:tags r:id="rId22"/>
            </p:custDataLst>
          </p:nvPr>
        </p:nvSpPr>
        <p:spPr>
          <a:xfrm>
            <a:off x="7315200" y="5330952"/>
            <a:ext cx="93281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 1</a:t>
            </a:r>
            <a:r>
              <a:rPr lang="en-US"/>
              <a:t>1</a:t>
            </a:r>
            <a:r>
              <a:t>-1</a:t>
            </a:r>
            <a:r>
              <a:rPr lang="en-US"/>
              <a:t>3</a:t>
            </a:r>
            <a:r>
              <a:t> 周</a:t>
            </a:r>
          </a:p>
        </p:txBody>
      </p:sp>
      <p:sp>
        <p:nvSpPr>
          <p:cNvPr id="45" name="Rounded Rectangle 44"/>
          <p:cNvSpPr/>
          <p:nvPr>
            <p:custDataLst>
              <p:tags r:id="rId23"/>
            </p:custDataLst>
          </p:nvPr>
        </p:nvSpPr>
        <p:spPr>
          <a:xfrm>
            <a:off x="8503920" y="5349240"/>
            <a:ext cx="2743200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>
            <p:custDataLst>
              <p:tags r:id="rId24"/>
            </p:custDataLst>
          </p:nvPr>
        </p:nvSpPr>
        <p:spPr>
          <a:xfrm>
            <a:off x="8503920" y="5349240"/>
            <a:ext cx="1828800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>
            <p:custDataLst>
              <p:tags r:id="rId25"/>
            </p:custDataLst>
          </p:nvPr>
        </p:nvSpPr>
        <p:spPr>
          <a:xfrm>
            <a:off x="8595360" y="5568696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毕业论文撰写与答辩准备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603504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9058" y="6144768"/>
            <a:ext cx="438340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计划总周期：</a:t>
            </a:r>
            <a:r>
              <a:rPr lang="en-US"/>
              <a:t>13</a:t>
            </a:r>
            <a:r>
              <a:t> 周  |  最终交付：完整的 Web 应用系统 + 毕业论文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9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敬请各位老师批评指正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651760"/>
            <a:ext cx="2103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1809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200"/>
              </a:spcAft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答辩人：孟实全</a:t>
            </a:r>
          </a:p>
          <a:p>
            <a:pPr>
              <a:lnSpc>
                <a:spcPts val="3200"/>
              </a:lnSpc>
              <a:spcAft>
                <a:spcPts val="200"/>
              </a:spcAft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数理学院  23级计算机</a:t>
            </a:r>
          </a:p>
          <a:p>
            <a:pPr>
              <a:lnSpc>
                <a:spcPts val="3200"/>
              </a:lnSpc>
              <a:spcAft>
                <a:spcPts val="200"/>
              </a:spcAft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指导老师：杨正泽</a:t>
            </a:r>
            <a:r>
              <a:rPr lang="zh-CN"/>
              <a:t>老师</a:t>
            </a:r>
            <a:endParaRPr lang="zh-CN"/>
          </a:p>
          <a:p>
            <a:pPr>
              <a:lnSpc>
                <a:spcPts val="3200"/>
              </a:lnSpc>
              <a:spcAft>
                <a:spcPts val="200"/>
              </a:spcAft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2026年7月4日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7150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0290" y="6172200"/>
            <a:ext cx="257111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校园二手物品共享平台 — 开题报告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10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edge/>
      </p:transition>
    </mc:Choice>
    <mc:Fallback>
      <p:transition spd="med">
        <p:wedg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73.6,&quot;left&quot;:64.8,&quot;top&quot;:118.8,&quot;width&quot;:853.2}"/>
</p:tagLst>
</file>

<file path=ppt/tags/tag2.xml><?xml version="1.0" encoding="utf-8"?>
<p:tagLst xmlns:p="http://schemas.openxmlformats.org/presentationml/2006/main">
  <p:tag name="KSO_WM_DIAGRAM_VIRTUALLY_FRAME" val="{&quot;height&quot;:273.6,&quot;left&quot;:64.8,&quot;top&quot;:118.8,&quot;width&quot;:853.2}"/>
</p:tagLst>
</file>

<file path=ppt/tags/tag3.xml><?xml version="1.0" encoding="utf-8"?>
<p:tagLst xmlns:p="http://schemas.openxmlformats.org/presentationml/2006/main">
  <p:tag name="KSO_WM_DIAGRAM_VIRTUALLY_FRAME" val="{&quot;height&quot;:273.6,&quot;left&quot;:64.8,&quot;top&quot;:118.8,&quot;width&quot;:853.2}"/>
</p:tagLst>
</file>

<file path=ppt/tags/tag4.xml><?xml version="1.0" encoding="utf-8"?>
<p:tagLst xmlns:p="http://schemas.openxmlformats.org/presentationml/2006/main">
  <p:tag name="KSO_WM_DIAGRAM_VIRTUALLY_FRAME" val="{&quot;height&quot;:273.6,&quot;left&quot;:64.8,&quot;top&quot;:118.8,&quot;width&quot;:853.2}"/>
</p:tagLst>
</file>

<file path=ppt/tags/tag5.xml><?xml version="1.0" encoding="utf-8"?>
<p:tagLst xmlns:p="http://schemas.openxmlformats.org/presentationml/2006/main">
  <p:tag name="KSO_WM_DIAGRAM_VIRTUALLY_FRAME" val="{&quot;height&quot;:273.6,&quot;left&quot;:64.8,&quot;top&quot;:118.8,&quot;width&quot;:853.2}"/>
</p:tagLst>
</file>

<file path=ppt/tags/tag6.xml><?xml version="1.0" encoding="utf-8"?>
<p:tagLst xmlns:p="http://schemas.openxmlformats.org/presentationml/2006/main">
  <p:tag name="KSO_WM_DIAGRAM_VIRTUALLY_FRAME" val="{&quot;height&quot;:273.6,&quot;left&quot;:64.8,&quot;top&quot;:118.8,&quot;width&quot;:853.2}"/>
</p:tagLst>
</file>

<file path=ppt/tags/tag7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8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9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0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1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2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3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4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5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6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7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8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19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0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1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2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3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4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5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6.xml><?xml version="1.0" encoding="utf-8"?>
<p:tagLst xmlns:p="http://schemas.openxmlformats.org/presentationml/2006/main">
  <p:tag name="KSO_WM_DIAGRAM_VIRTUALLY_FRAME" val="{&quot;height&quot;:345.6,&quot;left&quot;:64.8,&quot;top&quot;:122.4,&quot;width&quot;:885.6}"/>
</p:tagLst>
</file>

<file path=ppt/tags/tag27.xml><?xml version="1.0" encoding="utf-8"?>
<p:tagLst xmlns:p="http://schemas.openxmlformats.org/presentationml/2006/main">
  <p:tag name="KSO_WM_DIAGRAM_VIRTUALLY_FRAME" val="{&quot;height&quot;:94.31999999999998,&quot;left&quot;:109.2,&quot;top&quot;:410.4,&quot;width&quot;:941.4}"/>
</p:tagLst>
</file>

<file path=ppt/tags/tag28.xml><?xml version="1.0" encoding="utf-8"?>
<p:tagLst xmlns:p="http://schemas.openxmlformats.org/presentationml/2006/main">
  <p:tag name="KSO_WM_DIAGRAM_VIRTUALLY_FRAME" val="{&quot;height&quot;:94.31999999999998,&quot;left&quot;:109.2,&quot;top&quot;:410.4,&quot;width&quot;:941.4}"/>
</p:tagLst>
</file>

<file path=ppt/tags/tag29.xml><?xml version="1.0" encoding="utf-8"?>
<p:tagLst xmlns:p="http://schemas.openxmlformats.org/presentationml/2006/main">
  <p:tag name="KSO_WM_DIAGRAM_VIRTUALLY_FRAME" val="{&quot;height&quot;:94.31999999999998,&quot;left&quot;:109.2,&quot;top&quot;:410.4,&quot;width&quot;:941.4}"/>
</p:tagLst>
</file>

<file path=ppt/tags/tag30.xml><?xml version="1.0" encoding="utf-8"?>
<p:tagLst xmlns:p="http://schemas.openxmlformats.org/presentationml/2006/main">
  <p:tag name="KSO_WM_DIAGRAM_VIRTUALLY_FRAME" val="{&quot;height&quot;:94.31999999999998,&quot;left&quot;:109.2,&quot;top&quot;:410.4,&quot;width&quot;:941.4}"/>
</p:tagLst>
</file>

<file path=ppt/tags/tag31.xml><?xml version="1.0" encoding="utf-8"?>
<p:tagLst xmlns:p="http://schemas.openxmlformats.org/presentationml/2006/main">
  <p:tag name="KSO_WM_DIAGRAM_VIRTUALLY_FRAME" val="{&quot;height&quot;:94.31999999999998,&quot;left&quot;:109.2,&quot;top&quot;:410.4,&quot;width&quot;:941.4}"/>
</p:tagLst>
</file>

<file path=ppt/tags/tag32.xml><?xml version="1.0" encoding="utf-8"?>
<p:tagLst xmlns:p="http://schemas.openxmlformats.org/presentationml/2006/main">
  <p:tag name="KSO_WM_DIAGRAM_VIRTUALLY_FRAME" val="{&quot;height&quot;:94.31999999999998,&quot;left&quot;:109.2,&quot;top&quot;:410.4,&quot;width&quot;:941.4}"/>
</p:tagLst>
</file>

<file path=ppt/tags/tag33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34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35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36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37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38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39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0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1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2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3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4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5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6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7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8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49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0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1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2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3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4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5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6.xml><?xml version="1.0" encoding="utf-8"?>
<p:tagLst xmlns:p="http://schemas.openxmlformats.org/presentationml/2006/main">
  <p:tag name="KSO_WM_DIAGRAM_VIRTUALLY_FRAME" val="{&quot;height&quot;:392.4,&quot;left&quot;:43.2,&quot;top&quot;:111.6,&quot;width&quot;:1045.2}"/>
</p:tagLst>
</file>

<file path=ppt/tags/tag57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58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59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0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1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2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3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4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5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6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7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8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69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0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1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2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3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4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5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6.xml><?xml version="1.0" encoding="utf-8"?>
<p:tagLst xmlns:p="http://schemas.openxmlformats.org/presentationml/2006/main">
  <p:tag name="KSO_WM_DIAGRAM_VIRTUALLY_FRAME" val="{&quot;height&quot;:402.21000000000004,&quot;left&quot;:64.8,&quot;top&quot;:118.8,&quot;width&quot;:869.35}"/>
</p:tagLst>
</file>

<file path=ppt/tags/tag77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78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79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0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1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2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3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4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5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6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7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8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89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0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1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2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3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4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5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6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7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8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99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100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ags/tag101.xml><?xml version="1.0" encoding="utf-8"?>
<p:tagLst xmlns:p="http://schemas.openxmlformats.org/presentationml/2006/main">
  <p:tag name="KSO_WM_DIAGRAM_VIRTUALLY_FRAME" val="{&quot;height&quot;:299.52,&quot;left&quot;:489.6,&quot;top&quot;:154.8,&quot;width&quot;:40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3874</Words>
  <Application>WPS 演示</Application>
  <PresentationFormat>On-screen Show (4:3)</PresentationFormat>
  <Paragraphs>353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清风欲叶^ω^</cp:lastModifiedBy>
  <cp:revision>6</cp:revision>
  <dcterms:created xsi:type="dcterms:W3CDTF">2013-01-27T09:14:00Z</dcterms:created>
  <dcterms:modified xsi:type="dcterms:W3CDTF">2026-07-04T02:44:10Z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E0F0B4D805744CF19CD457FAD8551A80_12</vt:lpwstr>
  </property>
</Properties>
</file>